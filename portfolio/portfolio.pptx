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AD24303F-2C81-4083-B51F-CB57333385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표지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이 프로젝트는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'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동작하는 서버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'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가 아니라 실시간 게임 서버의 핵심 설계 선택지를 직접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비교하는 데 목적이 있음을 강조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6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AFE49D1-F11B-41DE-8225-E27B1CD0896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규모 수치는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World.h(MAX_PLAYER=200, MAX_BULLETS=4096), main.cpp(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워커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, TICK_MS=33), worlds(2)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에서 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7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9589D90-BD0C-4B2A-805F-C6AB6436D66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main.cpp: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워커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detach,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로직 루프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33ms.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상태 소유권을 단일 스레드에 두어 락 경합을 경계로 몰아넣은 것이 핵심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7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396A583-52CA-442E-AB37-95C99535F64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main.cpp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시작 순서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: WSAStartup → IOCP → listen → worker 32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detach + Accepter → worlds(2) Init → Map.Generate(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랜덤 벽 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IsFullyConnected(BFS)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재시도 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GenerateSpawnPoints). TryStartMatch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는 방이 가득 차면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running=true + BroadcastMapSnapshot.</a:t>
            </a:r>
          </a:p>
        </p:txBody>
      </p:sp>
      <p:sp>
        <p:nvSpPr>
          <p:cNvPr id="27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C31B38F-50D9-4E3E-8CBB-54A9BBDAC8C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HandleMove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는 입력 키 바이트만 수신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(SetKeys), HandleAttack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CanFire()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로 쿨타임 검증 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Fire. World.Update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순서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: UpdatePlayers→UpdateBullets→UpdateGrid→Collision→CheckMatchEnd→SendAOIUpdates.</a:t>
            </a:r>
          </a:p>
        </p:txBody>
      </p:sp>
      <p:sp>
        <p:nvSpPr>
          <p:cNvPr id="28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FE449E0-17F2-4555-8376-727F755C80D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힙 최소화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고정배열이 캐시 친화성과 예측 가능성을 만든다는 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코드 캡처는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ObjectPool.h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World.h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배열 멤버 위주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8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DEE9C28-5580-4B1A-8FC3-0651DED3631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워커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=I/O,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로직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=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상태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락을 경계로만 몰아넣은 구조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World.cpp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Update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흐름 함수명 참고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8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804285B-84B5-4A60-BB94-8FCCCDD709E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main.cpp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totalConsumeTime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로 소비 시간만 분리 측정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USE_EVENT_QUEUE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매크로로 토글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8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4D3EACD-CC3A-4864-BDB0-4648CC8B7EC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client/bot/main.go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runMaliciousBot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로 미완성 대형 패킷 전송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링 버퍼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full/empty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오인 버그도 이 과정에서 수정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9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4D3A3A4-CCC0-4C19-B4B0-39821A119F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SpatialGrid.*, World.cpp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UpdateGrid/SendAOIUpdates, Map.cpp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HasLineOfSight. USE_NOT_GRID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매크로로 토글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9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5B536F4-1896-488B-A9BC-DA199FE3B2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Protocol.h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PacketHeader{size,id}. World_Net.cpp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핸들러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, World.cpp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상태 갱신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우측 캡처는 렌더링 클라이언트 실행 화면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29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1E9DF1F-8AEA-4312-8173-3F78E9EFA59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client/bot/main.go, main.cpp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TickBenchmark + GetProcessMemoryInfo.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우측은 최종 결과 콘솔 출력 캡처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30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019643F-2E7C-432D-A7FF-0A041587FE5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2(링 vs 가변)의 실제 디버깅 경험. ① char buffer[512]로 줄였으나 4096 하드코딩 상한이 남아 크래시 → BUFFER_SIZE 단일 상수화(현재 4068)로 해결. ② 초기 MapSnapshot이 512B 초과 → 고정 링 버퍼 상한에 걸려 맵 일부만 로딩. VectorBuffer는 resize(512) 시작 후 Reserve로 grow하여 통과. '최악의 경우 어떻게 무너지는가'라는 실험 2 결론과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가지 배운 점으로 마무리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각 실험 슬라이드의 결론을 한 줄로 압축한 것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</a:p>
        </p:txBody>
      </p:sp>
      <p:sp>
        <p:nvSpPr>
          <p:cNvPr id="30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FA2689E-3D62-4616-A4C5-25510337665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n1244/cppServer/blob/master/cppServer/NetworkCore.c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n1244/cppServer/blob/master/cppServer/main.cp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n1244/cppServer/blob/master/cppServer/main.cpp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n1244/cppServer/blob/master/cppServer/EventQueue.h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n1244/cppServer/blob/master/cppServer/DoubleBuffer.h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n1244/cppServer/blob/master/cppServer/RingBuffer.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n1244/cppServer/blob/master/cppServer/VecterBuffer.h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n1244/cppServer/blob/master/cppServer/World.c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0E8F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932760"/>
            <a:ext cx="78627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C++  ·  WINDOWS IOCP  ·  GO CLIENT / LOAD BOT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21720" y="1298520"/>
            <a:ext cx="7954200" cy="7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40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기반 실시간 대전 게임 서버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2121480"/>
            <a:ext cx="78627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7D2DE"/>
                </a:solidFill>
                <a:effectLst/>
                <a:uFillTx/>
                <a:latin typeface="맑은 고딕"/>
                <a:ea typeface="맑은 고딕"/>
              </a:rPr>
              <a:t>400</a:t>
            </a:r>
            <a:r>
              <a:rPr lang="ko-KR" sz="1700" b="0" u="none" strike="noStrike">
                <a:solidFill>
                  <a:srgbClr val="C7D2DE"/>
                </a:solidFill>
                <a:effectLst/>
                <a:uFillTx/>
                <a:latin typeface="맑은 고딕"/>
                <a:ea typeface="맑은 고딕"/>
              </a:rPr>
              <a:t>명 규모 부하에 대응하는 </a:t>
            </a:r>
            <a:r>
              <a:rPr lang="en-US" sz="1700" b="0" u="none" strike="noStrike">
                <a:solidFill>
                  <a:srgbClr val="C7D2DE"/>
                </a:solidFill>
                <a:effectLst/>
                <a:uFillTx/>
                <a:latin typeface="맑은 고딕"/>
                <a:ea typeface="맑은 고딕"/>
              </a:rPr>
              <a:t>top-down </a:t>
            </a:r>
            <a:r>
              <a:rPr lang="ko-KR" sz="1700" b="0" u="none" strike="noStrike">
                <a:solidFill>
                  <a:srgbClr val="C7D2DE"/>
                </a:solidFill>
                <a:effectLst/>
                <a:uFillTx/>
                <a:latin typeface="맑은 고딕"/>
                <a:ea typeface="맑은 고딕"/>
              </a:rPr>
              <a:t>슈팅 게임 서버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2578680"/>
            <a:ext cx="75884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네트워크 </a:t>
            </a:r>
            <a:r>
              <a:rPr lang="en-US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I/O · </a:t>
            </a: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메모리 배치 </a:t>
            </a:r>
            <a:r>
              <a:rPr lang="en-US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· AOI </a:t>
            </a: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탐색 구조를 직접 구현하고 부하 상황에서 비교하며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서버 설계의 병목과 안정성을 검증한 프로젝트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3429000"/>
            <a:ext cx="950040" cy="419400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3429000"/>
            <a:ext cx="95004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IOCP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792080" y="3429000"/>
            <a:ext cx="1567080" cy="419400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792080" y="3429000"/>
            <a:ext cx="156708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30Hz Tick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561480" y="3429000"/>
            <a:ext cx="1320120" cy="419400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561480" y="3429000"/>
            <a:ext cx="132012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400 CCU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5083920" y="3429000"/>
            <a:ext cx="1443600" cy="419400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083920" y="3429000"/>
            <a:ext cx="14436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AOI Grid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40080" y="45262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7C8B9B"/>
                </a:solidFill>
                <a:effectLst/>
                <a:uFillTx/>
                <a:latin typeface="맑은 고딕"/>
                <a:ea typeface="맑은 고딕"/>
              </a:rPr>
              <a:t>신준규  </a:t>
            </a:r>
            <a:r>
              <a:rPr lang="en-US" sz="1200" b="0" u="none" strike="noStrike">
                <a:solidFill>
                  <a:srgbClr val="7C8B9B"/>
                </a:solidFill>
                <a:effectLst/>
                <a:uFillTx/>
                <a:latin typeface="맑은 고딕"/>
                <a:ea typeface="맑은 고딕"/>
              </a:rPr>
              <a:t>·  </a:t>
            </a:r>
            <a:r>
              <a:rPr lang="ko-KR" sz="1200" b="0" u="none" strike="noStrike">
                <a:solidFill>
                  <a:srgbClr val="7C8B9B"/>
                </a:solidFill>
                <a:effectLst/>
                <a:uFillTx/>
                <a:latin typeface="맑은 고딕"/>
                <a:ea typeface="맑은 고딕"/>
              </a:rPr>
              <a:t>포트폴리오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OVERVIEW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프로젝트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 개요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Text 2"/>
          <p:cNvSpPr/>
          <p:nvPr/>
        </p:nvSpPr>
        <p:spPr>
          <a:xfrm>
            <a:off x="548640" y="1298520"/>
            <a:ext cx="489096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단순히 동작하는 서버가 아니라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실시간 게임 서버의 핵심 설계 선택지를 직접 실험하기 위한 프로젝트입니다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67000" y="2084760"/>
            <a:ext cx="4890960" cy="27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11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C++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으로 직접 구현한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Windows IOCP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서버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1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Go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렌더링 클라이언트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+ Go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헤드리스 부하 봇 구현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1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방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개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방당 최대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100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명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200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명 동시 접속 부하 구조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1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이동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사격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파괴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피격 후 관전 전환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1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시야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(LOS) +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반경 기반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AOI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전송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5715000" y="137160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5"/>
          <p:cNvSpPr/>
          <p:nvPr/>
        </p:nvSpPr>
        <p:spPr>
          <a:xfrm>
            <a:off x="5715000" y="151776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760720" y="199332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게임 방 </a:t>
            </a:r>
            <a:r>
              <a:rPr lang="en-US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(World)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7369920" y="137160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8"/>
          <p:cNvSpPr/>
          <p:nvPr/>
        </p:nvSpPr>
        <p:spPr>
          <a:xfrm>
            <a:off x="7369920" y="151776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100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415640" y="199332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방당 최대 인원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5715000" y="254196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5715000" y="268848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400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760720" y="316368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총 동시 접속</a:t>
            </a:r>
            <a:r>
              <a:rPr lang="en-US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(CCU)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7369920" y="254196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7369920" y="268848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1024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7415640" y="316368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방당 최대 총알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5715000" y="371232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5715000" y="385884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32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5760720" y="433440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워커 스레드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7369920" y="3712320"/>
            <a:ext cx="1535040" cy="104148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7369920" y="3858840"/>
            <a:ext cx="15350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33ms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7415640" y="4334400"/>
            <a:ext cx="144360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로직 틱 </a:t>
            </a:r>
            <a:r>
              <a:rPr lang="en-US" sz="110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(~30Hz)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아키텍처 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— 책임을 나눈 두 종류의 스레드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네트워크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I/O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와 게임 상태 갱신의 책임을 분리했습니다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무작정 멀티스레드로 나누지 않았습니다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48640" y="1874520"/>
            <a:ext cx="3382200" cy="173628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15875">
            <a:solidFill>
              <a:srgbClr val="0E8F8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4"/>
          <p:cNvSpPr/>
          <p:nvPr/>
        </p:nvSpPr>
        <p:spPr>
          <a:xfrm>
            <a:off x="685800" y="2039040"/>
            <a:ext cx="31078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워커 스레드 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× 32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31520" y="2441520"/>
            <a:ext cx="306216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WSARecv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수신 완료 처리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패킷 프레이밍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파싱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스레드세이프 큐에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push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4041720" y="2423160"/>
            <a:ext cx="1059480" cy="620640"/>
          </a:xfrm>
          <a:prstGeom prst="roundRect">
            <a:avLst>
              <a:gd name="adj" fmla="val 14706"/>
            </a:avLst>
          </a:prstGeom>
          <a:solidFill>
            <a:srgbClr val="162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7"/>
          <p:cNvSpPr/>
          <p:nvPr/>
        </p:nvSpPr>
        <p:spPr>
          <a:xfrm>
            <a:off x="4032360" y="2597040"/>
            <a:ext cx="10594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전달 큐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3931920" y="2733840"/>
            <a:ext cx="109440" cy="360"/>
          </a:xfrm>
          <a:prstGeom prst="line">
            <a:avLst/>
          </a:prstGeom>
          <a:ln w="25400">
            <a:solidFill>
              <a:srgbClr val="6B7A8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4720" tIns="-44640" rIns="5472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5102280" y="2733840"/>
            <a:ext cx="127800" cy="360"/>
          </a:xfrm>
          <a:prstGeom prst="line">
            <a:avLst/>
          </a:prstGeom>
          <a:ln w="25400">
            <a:solidFill>
              <a:srgbClr val="6B7A8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720" tIns="-44640" rIns="6372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5230440" y="1874520"/>
            <a:ext cx="3363840" cy="173628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15875">
            <a:solidFill>
              <a:srgbClr val="0E8F8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5367600" y="2039040"/>
            <a:ext cx="310788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로직 스레드 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× 1  ·  33ms </a:t>
            </a: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5413320" y="2441520"/>
            <a:ext cx="306216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큐 소비 → 월드 업데이트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이동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충돌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피격 판정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6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AOI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대상에게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WSASend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548640" y="3913560"/>
            <a:ext cx="8045640" cy="867600"/>
          </a:xfrm>
          <a:prstGeom prst="roundRect">
            <a:avLst>
              <a:gd name="adj" fmla="val 6316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777240" y="4023360"/>
            <a:ext cx="75884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핵심 설계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777240" y="4242960"/>
            <a:ext cx="7588440" cy="42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게임 상태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플레이어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총알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맵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를 단일 로직 스레드가 소유하므로 상태 자체에는 락이 필요 없습니다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락은 세션 송신 버퍼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큐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push/swap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등 스레드 경계 지점에만 집중됩니다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SERVER STARTUP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서버 실행 플로우 — 시작과 준비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시작 시 네트워크와 월드 기반을 준비하고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방이 가득 차면 게임을 시작합니다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3"/>
          <p:cNvSpPr/>
          <p:nvPr/>
        </p:nvSpPr>
        <p:spPr>
          <a:xfrm>
            <a:off x="640080" y="166428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① 네트워크 · </a:t>
            </a:r>
            <a:r>
              <a:rPr lang="ko-KR" sz="12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스레드 부팅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Text 4"/>
          <p:cNvSpPr/>
          <p:nvPr/>
        </p:nvSpPr>
        <p:spPr>
          <a:xfrm>
            <a:off x="4846320" y="164376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② 월드 · </a:t>
            </a:r>
            <a:r>
              <a:rPr lang="ko-KR" sz="12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맵 준비 → 게임 시작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640080" y="1965960"/>
            <a:ext cx="32907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804600" y="206208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7"/>
          <p:cNvSpPr/>
          <p:nvPr/>
        </p:nvSpPr>
        <p:spPr>
          <a:xfrm>
            <a:off x="804600" y="20620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8"/>
          <p:cNvSpPr/>
          <p:nvPr/>
        </p:nvSpPr>
        <p:spPr>
          <a:xfrm>
            <a:off x="1207080" y="1965960"/>
            <a:ext cx="2586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Winsock 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초기화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2286000" y="2468880"/>
            <a:ext cx="360" cy="2743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640080" y="2743200"/>
            <a:ext cx="32907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804600" y="283932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804600" y="283932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1207080" y="2743200"/>
            <a:ext cx="2586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생성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2286000" y="3246120"/>
            <a:ext cx="360" cy="2743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640080" y="3520440"/>
            <a:ext cx="32907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804600" y="361656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804600" y="361656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1207080" y="3520440"/>
            <a:ext cx="2586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Listen Socket · bind · listen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2286000" y="4023360"/>
            <a:ext cx="360" cy="2743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640080" y="4297680"/>
            <a:ext cx="32907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804600" y="439380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804600" y="439380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1207080" y="4297680"/>
            <a:ext cx="2586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Worker ×32 + Accept Thread 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시작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Shape 24"/>
          <p:cNvSpPr/>
          <p:nvPr/>
        </p:nvSpPr>
        <p:spPr>
          <a:xfrm flipV="1">
            <a:off x="4023360" y="2144880"/>
            <a:ext cx="731160" cy="241056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4846320" y="1943280"/>
            <a:ext cx="37479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Shape 26"/>
          <p:cNvSpPr/>
          <p:nvPr/>
        </p:nvSpPr>
        <p:spPr>
          <a:xfrm>
            <a:off x="5010840" y="203940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 27"/>
          <p:cNvSpPr/>
          <p:nvPr/>
        </p:nvSpPr>
        <p:spPr>
          <a:xfrm>
            <a:off x="5010840" y="203940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5413320" y="1943280"/>
            <a:ext cx="30438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World 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생성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Shape 29"/>
          <p:cNvSpPr/>
          <p:nvPr/>
        </p:nvSpPr>
        <p:spPr>
          <a:xfrm>
            <a:off x="6720840" y="2446200"/>
            <a:ext cx="360" cy="1645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Shape 30"/>
          <p:cNvSpPr/>
          <p:nvPr/>
        </p:nvSpPr>
        <p:spPr>
          <a:xfrm>
            <a:off x="4846320" y="2610720"/>
            <a:ext cx="3747960" cy="8676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Shape 31"/>
          <p:cNvSpPr/>
          <p:nvPr/>
        </p:nvSpPr>
        <p:spPr>
          <a:xfrm>
            <a:off x="5010840" y="274788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32"/>
          <p:cNvSpPr/>
          <p:nvPr/>
        </p:nvSpPr>
        <p:spPr>
          <a:xfrm>
            <a:off x="5010840" y="2747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Text 33"/>
          <p:cNvSpPr/>
          <p:nvPr/>
        </p:nvSpPr>
        <p:spPr>
          <a:xfrm>
            <a:off x="5413320" y="2702160"/>
            <a:ext cx="3043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Map 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생성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34"/>
          <p:cNvSpPr/>
          <p:nvPr/>
        </p:nvSpPr>
        <p:spPr>
          <a:xfrm>
            <a:off x="5413320" y="2994840"/>
            <a:ext cx="304380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랜덤 벽 배치 </a:t>
            </a: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연결성 검사</a:t>
            </a: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(BFS)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스폰 좌표 설정 </a:t>
            </a: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연결될 때까지 재생성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Shape 35"/>
          <p:cNvSpPr/>
          <p:nvPr/>
        </p:nvSpPr>
        <p:spPr>
          <a:xfrm>
            <a:off x="6720840" y="3479400"/>
            <a:ext cx="360" cy="1645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36"/>
          <p:cNvSpPr/>
          <p:nvPr/>
        </p:nvSpPr>
        <p:spPr>
          <a:xfrm>
            <a:off x="4846320" y="3644280"/>
            <a:ext cx="3747960" cy="501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37"/>
          <p:cNvSpPr/>
          <p:nvPr/>
        </p:nvSpPr>
        <p:spPr>
          <a:xfrm>
            <a:off x="5010840" y="374004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38"/>
          <p:cNvSpPr/>
          <p:nvPr/>
        </p:nvSpPr>
        <p:spPr>
          <a:xfrm>
            <a:off x="5010840" y="3740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 39"/>
          <p:cNvSpPr/>
          <p:nvPr/>
        </p:nvSpPr>
        <p:spPr>
          <a:xfrm>
            <a:off x="5413320" y="3644280"/>
            <a:ext cx="30438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방당 </a:t>
            </a: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100</a:t>
            </a: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명 접속 대기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Shape 40"/>
          <p:cNvSpPr/>
          <p:nvPr/>
        </p:nvSpPr>
        <p:spPr>
          <a:xfrm>
            <a:off x="6720840" y="4146840"/>
            <a:ext cx="360" cy="16452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41"/>
          <p:cNvSpPr/>
          <p:nvPr/>
        </p:nvSpPr>
        <p:spPr>
          <a:xfrm>
            <a:off x="4846320" y="4311720"/>
            <a:ext cx="3747960" cy="620640"/>
          </a:xfrm>
          <a:prstGeom prst="roundRect">
            <a:avLst>
              <a:gd name="adj" fmla="val 10294"/>
            </a:avLst>
          </a:prstGeom>
          <a:solidFill>
            <a:srgbClr val="E7F2F1"/>
          </a:solidFill>
          <a:ln w="15875">
            <a:solidFill>
              <a:srgbClr val="5EEAD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Shape 42"/>
          <p:cNvSpPr/>
          <p:nvPr/>
        </p:nvSpPr>
        <p:spPr>
          <a:xfrm>
            <a:off x="5010840" y="4448880"/>
            <a:ext cx="309960" cy="309960"/>
          </a:xfrm>
          <a:prstGeom prst="ellipse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43"/>
          <p:cNvSpPr/>
          <p:nvPr/>
        </p:nvSpPr>
        <p:spPr>
          <a:xfrm>
            <a:off x="5010840" y="4448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8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Text 44"/>
          <p:cNvSpPr/>
          <p:nvPr/>
        </p:nvSpPr>
        <p:spPr>
          <a:xfrm>
            <a:off x="5413320" y="4403160"/>
            <a:ext cx="3043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게임 시작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Text 45"/>
          <p:cNvSpPr/>
          <p:nvPr/>
        </p:nvSpPr>
        <p:spPr>
          <a:xfrm>
            <a:off x="5413320" y="4695840"/>
            <a:ext cx="304380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→ 맵 스냅샷 전송 후 33ms </a:t>
            </a: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로직 틱 시작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LOGIC TICK · 30HZ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33ms </a:t>
            </a: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로직 틱 — 매 틱 반복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게임이 시작되면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33ms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마다 입력 처리 → 상태 갱신 →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AOI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송신을 반복합니다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640080" y="1828800"/>
            <a:ext cx="3382200" cy="501840"/>
          </a:xfrm>
          <a:prstGeom prst="roundRect">
            <a:avLst>
              <a:gd name="adj" fmla="val 12727"/>
            </a:avLst>
          </a:prstGeom>
          <a:solidFill>
            <a:srgbClr val="0E8F84"/>
          </a:solidFill>
          <a:ln w="12700">
            <a:solidFill>
              <a:srgbClr val="0B6F66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859680" y="1828800"/>
            <a:ext cx="30254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33ms Logic Tick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2331720" y="2331720"/>
            <a:ext cx="360" cy="20088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640080" y="2532960"/>
            <a:ext cx="3382200" cy="913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859680" y="2624400"/>
            <a:ext cx="30254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수신 패킷 소비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859680" y="2917080"/>
            <a:ext cx="30254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Join / Leave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Move </a:t>
            </a: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입력 </a:t>
            </a: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· Attack · Observe </a:t>
            </a: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요청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2331720" y="3447000"/>
            <a:ext cx="360" cy="20124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640080" y="3648600"/>
            <a:ext cx="3382200" cy="913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859680" y="3740040"/>
            <a:ext cx="30254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패킷 핸들링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859680" y="4032360"/>
            <a:ext cx="30254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클라이언트는 좌표가 아닌 입력 키만 전송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6B7A8D"/>
                </a:solidFill>
                <a:effectLst/>
                <a:uFillTx/>
                <a:latin typeface="맑은 고딕"/>
                <a:ea typeface="맑은 고딕"/>
              </a:rPr>
              <a:t>공격 요청은 서버가 쿨타임 검증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4050720" y="4105440"/>
            <a:ext cx="365760" cy="360"/>
          </a:xfrm>
          <a:prstGeom prst="line">
            <a:avLst/>
          </a:prstGeom>
          <a:ln w="25400">
            <a:solidFill>
              <a:srgbClr val="9AA8B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4434840" y="1828800"/>
            <a:ext cx="4159440" cy="269640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4663440" y="1993320"/>
            <a:ext cx="37022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World.Update — </a:t>
            </a: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매 틱 상태 갱신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4727520" y="2414160"/>
            <a:ext cx="3592440" cy="194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유저 이동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충돌 판정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 이동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충돌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파괴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Grid 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업데이트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유저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-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 충돌 판정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게임 종료 여부 판정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생존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명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3A4A5C"/>
              </a:buClr>
              <a:buFont typeface="Calibri Light"/>
              <a:buAutoNum type="arabicPeriod"/>
            </a:pP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Grid + LOS + </a:t>
            </a:r>
            <a:r>
              <a:rPr lang="ko-KR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반경 기준 상황 송신 </a:t>
            </a:r>
            <a:r>
              <a:rPr lang="en-US" sz="13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(AOI)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548640" y="4681800"/>
            <a:ext cx="8045640" cy="36468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548640" y="4681800"/>
            <a:ext cx="8045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매 틱 반복  </a:t>
            </a:r>
            <a:r>
              <a:rPr lang="en-US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·  </a:t>
            </a: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위 과정을 </a:t>
            </a:r>
            <a:r>
              <a:rPr lang="en-US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33ms</a:t>
            </a: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마다</a:t>
            </a:r>
            <a:r>
              <a:rPr lang="en-US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(≈30Hz) </a:t>
            </a: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수행  </a:t>
            </a:r>
            <a:r>
              <a:rPr lang="en-US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·  </a:t>
            </a: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생존자 </a:t>
            </a:r>
            <a:r>
              <a:rPr lang="en-US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lang="ko-KR" sz="1200" b="1" u="none" strike="noStrike">
                <a:solidFill>
                  <a:srgbClr val="E7F2F1"/>
                </a:solidFill>
                <a:effectLst/>
                <a:uFillTx/>
                <a:latin typeface="맑은 고딕"/>
                <a:ea typeface="맑은 고딕"/>
              </a:rPr>
              <a:t>명이 되면 매치 종료로 정지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DESIGN · MEMORY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예측 가능한 메모리와 캐시 친화성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223640"/>
            <a:ext cx="489096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힙 할당을 최소화하고 고정 크기 배열</a:t>
            </a:r>
            <a:r>
              <a:rPr lang="en-US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풀을 사용해</a:t>
            </a:r>
            <a:r>
              <a:rPr lang="en-US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부하 상황에서도 메모리 사용 패턴이 예측 가능하도록 설계했습니다</a:t>
            </a:r>
            <a:r>
              <a:rPr lang="en-US" sz="14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67000" y="2084760"/>
            <a:ext cx="489096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세션은 직접 구현한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ObjectPool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에서 미리 확보한 배열로 할당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/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반납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플레이어 슬롯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총알도 고정 배열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(slots[100], bullets[1024])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로 관리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총알은 생성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/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삭제 대신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active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플래그로 재사용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자주 접근하는 데이터를 연속된 메모리에 가깝게 배치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548640" y="4160520"/>
            <a:ext cx="4890960" cy="684720"/>
          </a:xfrm>
          <a:prstGeom prst="roundRect">
            <a:avLst>
              <a:gd name="adj" fmla="val 8000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77240" y="4196880"/>
            <a:ext cx="443376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관점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777240" y="4433400"/>
            <a:ext cx="44337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중요한 것은 평균 속도만이 아니라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부하 시 메모리 사용량과 접근 패턴이 예측 가능하게 유지되는 것입니다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5623560" y="1371600"/>
            <a:ext cx="2970720" cy="1370520"/>
          </a:xfrm>
          <a:prstGeom prst="roundRect">
            <a:avLst>
              <a:gd name="adj" fmla="val 4000"/>
            </a:avLst>
          </a:prstGeom>
          <a:solidFill>
            <a:srgbClr val="16202E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806440" y="1481400"/>
            <a:ext cx="265068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1" u="none" strike="noStrike" spc="150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코드 근거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806440" y="1755720"/>
            <a:ext cx="2650680" cy="91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ObjectPool.h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0"/>
                </a:solidFill>
                <a:effectLst/>
                <a:uFillTx/>
                <a:latin typeface="Consolas"/>
                <a:ea typeface="Consolas"/>
              </a:rPr>
              <a:t>  T items[N] · freeList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NetworkCore.cpp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0"/>
                </a:solidFill>
                <a:effectLst/>
                <a:uFillTx/>
                <a:latin typeface="Consolas"/>
                <a:ea typeface="Consolas"/>
              </a:rPr>
              <a:t>  ObjectPool&lt;Session,1000&gt;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Bullet.cpp — Fire / Clear / IsActive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7" name="그림 14"/>
          <p:cNvPicPr/>
          <p:nvPr/>
        </p:nvPicPr>
        <p:blipFill>
          <a:blip r:embed="rId3"/>
          <a:stretch/>
        </p:blipFill>
        <p:spPr>
          <a:xfrm>
            <a:off x="5560200" y="1270800"/>
            <a:ext cx="3312720" cy="2111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DESIGN · THREADING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멀티스레드보다 명확한 책임 분리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모든 로직을 스레드로 쪼개는 대신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, '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누가 무엇을 소유하는가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를 명확히 나누는 데 집중했습니다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Shape 3">
            <a:hlinkClick r:id="rId3"/>
          </p:cNvPr>
          <p:cNvSpPr/>
          <p:nvPr/>
        </p:nvSpPr>
        <p:spPr>
          <a:xfrm>
            <a:off x="548640" y="1828800"/>
            <a:ext cx="3912480" cy="214776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777240" y="1993320"/>
            <a:ext cx="345528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워커 스레드 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× 32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777240" y="2304360"/>
            <a:ext cx="34552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B6F66"/>
                </a:solidFill>
                <a:effectLst/>
                <a:uFillTx/>
                <a:latin typeface="Consolas"/>
                <a:ea typeface="Consolas"/>
              </a:rPr>
              <a:t>recv → parse → push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804600" y="2615040"/>
            <a:ext cx="340956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GetQueuedCompletionStatus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로 완료 수신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WSARecv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결과를 프레임 단위로 파싱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완성된 패킷을 큐에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push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I/O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병렬성 확보가 목적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Shape 7">
            <a:hlinkClick r:id="rId4"/>
          </p:cNvPr>
          <p:cNvSpPr/>
          <p:nvPr/>
        </p:nvSpPr>
        <p:spPr>
          <a:xfrm>
            <a:off x="4681800" y="1828800"/>
            <a:ext cx="3912480" cy="214776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4910400" y="1993320"/>
            <a:ext cx="345528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로직 스레드 </a:t>
            </a:r>
            <a:r>
              <a:rPr lang="en-US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×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4910400" y="2304360"/>
            <a:ext cx="34552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B6F66"/>
                </a:solidFill>
                <a:effectLst/>
                <a:uFillTx/>
                <a:latin typeface="Consolas"/>
                <a:ea typeface="Consolas"/>
              </a:rPr>
              <a:t>consume → update → send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4937760" y="2615040"/>
            <a:ext cx="340956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틱마다 입력 큐 소비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UpdatePlayers · UpdateBullets · Collision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SendAOIUpdates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로 상태 브로드캐스트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게임 상태를 단독 소유 → 상태 락 불필요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548640" y="4160520"/>
            <a:ext cx="8045640" cy="657360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777240" y="4185720"/>
            <a:ext cx="75884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락은 어디에</a:t>
            </a:r>
            <a:r>
              <a:rPr lang="en-US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1402200" y="4381200"/>
            <a:ext cx="6119280" cy="4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세션 송신 버퍼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큐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push/swap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같은 스레드 경계 지점에만 락을 둡니다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플레이어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총알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맵 상태에는 락이 없습니다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ection Label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EXPERIMENT 1 · INTERFACE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Title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맑은 고딕"/>
              </a:rPr>
              <a:t>#define </a:t>
            </a: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한 줄로 두 구현을 전환하다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Subtitle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같은 처리 로직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같은 측정 지점 위에서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매크로 하나만 바꿔 두 방식을 동일 조건으로 비교했습니다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Left Card"/>
          <p:cNvSpPr/>
          <p:nvPr/>
        </p:nvSpPr>
        <p:spPr>
          <a:xfrm>
            <a:off x="548640" y="1828800"/>
            <a:ext cx="2787840" cy="298872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Left Header"/>
          <p:cNvSpPr/>
          <p:nvPr/>
        </p:nvSpPr>
        <p:spPr>
          <a:xfrm>
            <a:off x="77724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왜 인터페이스를 통일했나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Left Body"/>
          <p:cNvSpPr/>
          <p:nvPr/>
        </p:nvSpPr>
        <p:spPr>
          <a:xfrm>
            <a:off x="804600" y="2404800"/>
            <a:ext cx="2284920" cy="22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8000"/>
              </a:lnSpc>
              <a:spcAft>
                <a:spcPts val="901"/>
              </a:spcAft>
              <a:buClr>
                <a:srgbClr val="3A4A5C"/>
              </a:buClr>
              <a:buFont typeface="Symbol" charset="2"/>
              <a:buChar char="_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수신 소비 루프를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Consolas"/>
                <a:ea typeface="맑은 고딕"/>
              </a:rPr>
              <a:t>#ifdef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한 곳으로 감싸 분기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8000"/>
              </a:lnSpc>
              <a:spcAft>
                <a:spcPts val="901"/>
              </a:spcAft>
              <a:buClr>
                <a:srgbClr val="3A4A5C"/>
              </a:buClr>
              <a:buFont typeface="Symbol" charset="2"/>
              <a:buChar char="_"/>
            </a:pPr>
            <a:r>
              <a:rPr lang="en-US" sz="1250" b="1" u="none" strike="noStrike">
                <a:solidFill>
                  <a:srgbClr val="0B6F66"/>
                </a:solidFill>
                <a:effectLst/>
                <a:uFillTx/>
                <a:latin typeface="Consolas"/>
                <a:ea typeface="맑은 고딕"/>
              </a:rPr>
              <a:t>#define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한 줄만 켜고 끄면 방식 전환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8000"/>
              </a:lnSpc>
              <a:spcAft>
                <a:spcPts val="901"/>
              </a:spcAft>
              <a:buClr>
                <a:srgbClr val="3A4A5C"/>
              </a:buClr>
              <a:buFont typeface="Symbol" charset="2"/>
              <a:buChar char="_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측정 코드는 분기 밖에 두어 조건을 동일하게 유지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8000"/>
              </a:lnSpc>
              <a:spcAft>
                <a:spcPts val="901"/>
              </a:spcAft>
              <a:buClr>
                <a:srgbClr val="3A4A5C"/>
              </a:buClr>
              <a:buFont typeface="Symbol" charset="2"/>
              <a:buChar char="_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런타임 오버헤드 없이 컴파일 타임에 선택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Code Block">
            <a:hlinkClick r:id="rId2"/>
          </p:cNvPr>
          <p:cNvSpPr/>
          <p:nvPr/>
        </p:nvSpPr>
        <p:spPr>
          <a:xfrm>
            <a:off x="3456360" y="1828800"/>
            <a:ext cx="5138280" cy="241596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88920" dist="38160" dir="5400000" algn="bl" rotWithShape="0">
              <a:srgbClr val="000000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Code Filename">
            <a:hlinkClick r:id="rId2"/>
          </p:cNvPr>
          <p:cNvSpPr/>
          <p:nvPr/>
        </p:nvSpPr>
        <p:spPr>
          <a:xfrm>
            <a:off x="3730680" y="1965960"/>
            <a:ext cx="459000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EEAD4"/>
                </a:solidFill>
                <a:effectLst/>
                <a:uFillTx/>
                <a:latin typeface="Consolas"/>
                <a:ea typeface="맑은 고딕"/>
              </a:rPr>
              <a:t>main.cpp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맑은 고딕"/>
                <a:ea typeface="맑은 고딕"/>
              </a:rPr>
              <a:t>   · 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맑은 고딕"/>
                <a:ea typeface="맑은 고딕"/>
              </a:rPr>
              <a:t>로직 스레드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맑은 고딕"/>
                <a:ea typeface="맑은 고딕"/>
              </a:rPr>
              <a:t>큐 소비 구간           </a:t>
            </a:r>
            <a:r>
              <a:rPr lang="en-US" sz="1000" b="1" u="sng" strike="noStrike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Code Text">
            <a:hlinkClick r:id="rId2"/>
          </p:cNvPr>
          <p:cNvSpPr/>
          <p:nvPr/>
        </p:nvSpPr>
        <p:spPr>
          <a:xfrm>
            <a:off x="3730680" y="2249280"/>
            <a:ext cx="4590000" cy="18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C586C0"/>
                </a:solidFill>
                <a:effectLst/>
                <a:uFillTx/>
                <a:latin typeface="Consolas"/>
                <a:ea typeface="Consolas"/>
              </a:rPr>
              <a:t>#ifdef </a:t>
            </a:r>
            <a:r>
              <a:rPr lang="en-US" sz="1000" b="0" u="none" strike="noStrike">
                <a:solidFill>
                  <a:srgbClr val="9CDCFE"/>
                </a:solidFill>
                <a:effectLst/>
                <a:uFillTx/>
                <a:latin typeface="Consolas"/>
                <a:ea typeface="Consolas"/>
              </a:rPr>
              <a:t>USE_EVENT_QUEUE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D4D4D4"/>
                </a:solidFill>
                <a:effectLst/>
                <a:uFillTx/>
                <a:latin typeface="Consolas"/>
                <a:ea typeface="Consolas"/>
              </a:rPr>
              <a:t>    while (g_recvQueue.Pop(p)) { ... }   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// </a:t>
            </a:r>
            <a:r>
              <a:rPr lang="ko-KR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이벤트 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C586C0"/>
                </a:solidFill>
                <a:effectLst/>
                <a:uFillTx/>
                <a:latin typeface="Consolas"/>
                <a:ea typeface="Consolas"/>
              </a:rPr>
              <a:t>#else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D4D4D4"/>
                </a:solidFill>
                <a:effectLst/>
                <a:uFillTx/>
                <a:latin typeface="Consolas"/>
                <a:ea typeface="Consolas"/>
              </a:rPr>
              <a:t>    g_recvQueue.Swap(buffer);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D4D4D4"/>
                </a:solidFill>
                <a:effectLst/>
                <a:uFillTx/>
                <a:latin typeface="Consolas"/>
                <a:ea typeface="Consolas"/>
              </a:rPr>
              <a:t>    for (auto&amp; p : buffer) { ... }   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// </a:t>
            </a:r>
            <a:r>
              <a:rPr lang="ko-KR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더블 스왑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C586C0"/>
                </a:solidFill>
                <a:effectLst/>
                <a:uFillTx/>
                <a:latin typeface="Consolas"/>
                <a:ea typeface="Consolas"/>
              </a:rPr>
              <a:t>#endif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nsolas"/>
                <a:ea typeface="Consolas"/>
              </a:rPr>
              <a:t>auto</a:t>
            </a:r>
            <a:r>
              <a:rPr lang="en-US" sz="1000" b="0" u="none" strike="noStrike">
                <a:solidFill>
                  <a:srgbClr val="D4D4D4"/>
                </a:solidFill>
                <a:effectLst/>
                <a:uFillTx/>
                <a:latin typeface="Consolas"/>
                <a:ea typeface="Consolas"/>
              </a:rPr>
              <a:t> ConsumeEnd = steady_clock::now();   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// </a:t>
            </a:r>
            <a:r>
              <a:rPr lang="ko-KR" sz="10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맑은 고딕"/>
              </a:rPr>
              <a:t>측정은 공통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22000"/>
              </a:lnSpc>
            </a:pPr>
            <a:r>
              <a:rPr lang="en-US" sz="1000" b="0" u="none" strike="noStrike">
                <a:solidFill>
                  <a:srgbClr val="D4D4D4"/>
                </a:solidFill>
                <a:effectLst/>
                <a:uFillTx/>
                <a:latin typeface="Consolas"/>
                <a:ea typeface="Consolas"/>
              </a:rPr>
              <a:t>bench.totalConsumeTime += ConsumeDuration;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Bottom Banner"/>
          <p:cNvSpPr/>
          <p:nvPr/>
        </p:nvSpPr>
        <p:spPr>
          <a:xfrm>
            <a:off x="3456360" y="4385880"/>
            <a:ext cx="5138280" cy="432000"/>
          </a:xfrm>
          <a:prstGeom prst="roundRect">
            <a:avLst>
              <a:gd name="adj" fmla="val 12000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7160" tIns="45000" rIns="13716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핵심  </a:t>
            </a:r>
            <a:r>
              <a:rPr lang="ko-KR" sz="115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바뀌는 것은 단 한 줄 — 나머지 조건이 같으니 결과 차이는 온전히 큐 방식의 차이입니다</a:t>
            </a: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2">
            <a:hlinkClick r:id="rId3"/>
          </p:cNvPr>
          <p:cNvSpPr/>
          <p:nvPr/>
        </p:nvSpPr>
        <p:spPr>
          <a:xfrm>
            <a:off x="54864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FBEDEC"/>
          </a:solidFill>
          <a:ln w="12700">
            <a:solidFill>
              <a:srgbClr val="E7C4C0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EXPERIMENT 1 · QUEUE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이벤트 큐 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vs </a:t>
            </a: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더블 스왑 버퍼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워커 → 로직 스레드 전달 큐를 두 방식으로 구현해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락 경합 비용을 비교했습니다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77724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이벤트 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77724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EventQueue.h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80460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단일 큐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+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뮤텍스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push · pop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매 건마다 락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구현이 단순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Shape 7">
            <a:hlinkClick r:id="rId4"/>
          </p:cNvPr>
          <p:cNvSpPr/>
          <p:nvPr/>
        </p:nvSpPr>
        <p:spPr>
          <a:xfrm>
            <a:off x="345636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368496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더블 스왑 버퍼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368496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B6F66"/>
                </a:solidFill>
                <a:effectLst/>
                <a:uFillTx/>
                <a:latin typeface="Consolas"/>
                <a:ea typeface="Consolas"/>
              </a:rPr>
              <a:t>DoubleBuffer.h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371232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버퍼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개 운용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워커는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push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시에만 락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로직은 틱당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회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swap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548640" y="4160520"/>
            <a:ext cx="8045640" cy="657360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777240" y="4176000"/>
            <a:ext cx="75884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결과 </a:t>
            </a:r>
            <a:r>
              <a:rPr lang="en-US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배운 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777240" y="4381560"/>
            <a:ext cx="758844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전체 틱 시간은 게임 로직에 묻혀 차이가 안 보였고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순수 큐 소비 시간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(Consume Time)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을 분리 측정하자 더블 스왑이 약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2~3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배 빠름 — 최적화는 구현보다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무엇을 측정할지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가 관건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76" name="표 17"/>
          <p:cNvGraphicFramePr/>
          <p:nvPr/>
        </p:nvGraphicFramePr>
        <p:xfrm>
          <a:off x="6355080" y="1828800"/>
          <a:ext cx="2240280" cy="21456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1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지표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더블 스왑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이벤트 큐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평균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13.16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13.98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최고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55.87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B0413A"/>
                          </a:solidFill>
                          <a:effectLst/>
                          <a:uFillTx/>
                          <a:latin typeface="맑은 고딕"/>
                        </a:rPr>
                        <a:t>1299.13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큐 소비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0.0116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0.0140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메모리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(MB)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8 / 9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8 / 9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직사각형 176"/>
          <p:cNvSpPr/>
          <p:nvPr/>
        </p:nvSpPr>
        <p:spPr>
          <a:xfrm>
            <a:off x="1365662" y="3701520"/>
            <a:ext cx="1970818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4239491" y="3718440"/>
            <a:ext cx="2004709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EXPERIMENT 2 · RECV BUFFER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링 버퍼 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vs </a:t>
            </a: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가변 버퍼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가변 버퍼는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Clear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하는 과정에서 틱 지연이 발생합니다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Shape 3">
            <a:hlinkClick r:id="rId3"/>
          </p:cNvPr>
          <p:cNvSpPr/>
          <p:nvPr/>
        </p:nvSpPr>
        <p:spPr>
          <a:xfrm>
            <a:off x="54864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77724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링 버퍼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77724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B6F66"/>
                </a:solidFill>
                <a:effectLst/>
                <a:uFillTx/>
                <a:latin typeface="Consolas"/>
                <a:ea typeface="Consolas"/>
              </a:rPr>
              <a:t>RingBuffer.*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80460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고정 크기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메모리 상한 명확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상한 내에서 세션을 격리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오버플로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(backpressure)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정책 필요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Shape 7">
            <a:hlinkClick r:id="rId4"/>
          </p:cNvPr>
          <p:cNvSpPr/>
          <p:nvPr/>
        </p:nvSpPr>
        <p:spPr>
          <a:xfrm>
            <a:off x="345636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FBEDEC"/>
          </a:solidFill>
          <a:ln w="12700">
            <a:solidFill>
              <a:srgbClr val="E7C4C0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368496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B0413A"/>
                </a:solidFill>
                <a:effectLst/>
                <a:uFillTx/>
                <a:latin typeface="맑은 고딕"/>
                <a:ea typeface="맑은 고딕"/>
              </a:rPr>
              <a:t>가변 버퍼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368496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0413A"/>
                </a:solidFill>
                <a:effectLst/>
                <a:uFillTx/>
                <a:latin typeface="Consolas"/>
                <a:ea typeface="Consolas"/>
              </a:rPr>
              <a:t>VecterBuffer.*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371232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필요한 만큼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grow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악성 패킷에 취약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세션마다 메모리 증가 → </a:t>
            </a: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DoS/OOM 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위험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548640" y="4160520"/>
            <a:ext cx="8045640" cy="657360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777240" y="4270320"/>
            <a:ext cx="75884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결론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777240" y="4489560"/>
            <a:ext cx="758844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악성 봇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완성되지 않는 거대 패킷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으로 검증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핵심은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어느 게 빠른가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가 아니라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최악의 경우 어떻게 무너지는가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 —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링은 상한이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가변은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cap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이 반드시 필요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93" name="표 17"/>
          <p:cNvGraphicFramePr/>
          <p:nvPr/>
        </p:nvGraphicFramePr>
        <p:xfrm>
          <a:off x="6355080" y="1828800"/>
          <a:ext cx="2240280" cy="21456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1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지표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링 버퍼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가변 버퍼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평균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13.16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12.14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최고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55.87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283.46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큐 소비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0.0116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B0413A"/>
                          </a:solidFill>
                          <a:effectLst/>
                          <a:uFillTx/>
                          <a:latin typeface="맑은 고딕"/>
                        </a:rPr>
                        <a:t>0.6805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메모리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(MB)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8 / 9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B0413A"/>
                          </a:solidFill>
                          <a:effectLst/>
                          <a:uFillTx/>
                          <a:latin typeface="맑은 고딕"/>
                        </a:rPr>
                        <a:t>9 / 10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" name="직사각형 193"/>
          <p:cNvSpPr/>
          <p:nvPr/>
        </p:nvSpPr>
        <p:spPr>
          <a:xfrm>
            <a:off x="1395351" y="3701520"/>
            <a:ext cx="1941129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4304805" y="3718440"/>
            <a:ext cx="1940115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">
            <a:hlinkClick r:id="rId3"/>
          </p:cNvPr>
          <p:cNvSpPr/>
          <p:nvPr/>
        </p:nvSpPr>
        <p:spPr>
          <a:xfrm>
            <a:off x="54864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FBEDEC"/>
          </a:solidFill>
          <a:ln w="12700">
            <a:solidFill>
              <a:srgbClr val="E7C4C0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EXPERIMENT 3 · AOI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전체 순회 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vs </a:t>
            </a: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공간 그리드 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(AOI)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AOI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최적화의 핵심은 단순한 속도 개선이 아니라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플레이어 수 증가에 대한 확장성입니다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77724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전체 순회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77724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O(N²)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80460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모든 플레이어 쌍을 검사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총알까지 곱해져 비용 급증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N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이 커질수록 급격히 악화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Shape 7">
            <a:hlinkClick r:id="rId3"/>
          </p:cNvPr>
          <p:cNvSpPr/>
          <p:nvPr/>
        </p:nvSpPr>
        <p:spPr>
          <a:xfrm>
            <a:off x="3456360" y="1828800"/>
            <a:ext cx="2787840" cy="214776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3684960" y="1993320"/>
            <a:ext cx="233064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공간 그리드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3684960" y="2304360"/>
            <a:ext cx="23306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B6F66"/>
                </a:solidFill>
                <a:effectLst/>
                <a:uFillTx/>
                <a:latin typeface="Consolas"/>
                <a:ea typeface="Consolas"/>
              </a:rPr>
              <a:t>≈ O(N·k)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Text 10"/>
          <p:cNvSpPr/>
          <p:nvPr/>
        </p:nvSpPr>
        <p:spPr>
          <a:xfrm>
            <a:off x="3712320" y="2615040"/>
            <a:ext cx="2284920" cy="12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주변 셀 후보만 수집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broad-phase</a:t>
            </a: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만 교체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65240" indent="-165240" defTabSz="914400">
              <a:lnSpc>
                <a:spcPct val="100000"/>
              </a:lnSpc>
              <a:spcAft>
                <a:spcPts val="700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2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분산될수록 이점 확대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548640" y="4160520"/>
            <a:ext cx="8045640" cy="878760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777240" y="4270320"/>
            <a:ext cx="758844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 spc="150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핵심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777240" y="4489560"/>
            <a:ext cx="7588440" cy="21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후보 수집만 교체하고 거리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시야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(LOS)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필터는 공유해 두 방식의 결과를 동일하게 맞췄습니다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그리드의 강점은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빠름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'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보다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N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에 대한 확장성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제곱 → 선형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210" name="표 17"/>
          <p:cNvGraphicFramePr/>
          <p:nvPr/>
        </p:nvGraphicFramePr>
        <p:xfrm>
          <a:off x="6355080" y="1828800"/>
          <a:ext cx="2240280" cy="21456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1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지표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공간 그리드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ko-KR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맑은 고딕"/>
                        </a:rPr>
                        <a:t>전체 순회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0B6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평균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13.16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B0413A"/>
                          </a:solidFill>
                          <a:effectLst/>
                          <a:uFillTx/>
                          <a:latin typeface="맑은 고딕"/>
                        </a:rPr>
                        <a:t>25.32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최고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55.87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395.90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최소 틱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(ms)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7.14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B0413A"/>
                          </a:solidFill>
                          <a:effectLst/>
                          <a:uFillTx/>
                          <a:latin typeface="맑은 고딕"/>
                        </a:rPr>
                        <a:t>21.65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ko-KR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메모리</a:t>
                      </a:r>
                      <a:r>
                        <a:rPr lang="en-US" sz="85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맑은 고딕"/>
                        </a:rPr>
                        <a:t>(MB)</a:t>
                      </a:r>
                      <a:endParaRPr lang="en-US" sz="8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8 / 9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3A4A5C"/>
                          </a:solidFill>
                          <a:effectLst/>
                          <a:uFillTx/>
                          <a:latin typeface="맑은 고딕"/>
                        </a:rPr>
                        <a:t>8 / 9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marL="37800" marR="37800" marT="12600" marB="12600" anchor="ctr">
                    <a:lnL w="9360">
                      <a:solidFill>
                        <a:srgbClr val="D5DDE5"/>
                      </a:solidFill>
                      <a:prstDash val="solid"/>
                    </a:lnL>
                    <a:lnR w="9360">
                      <a:solidFill>
                        <a:srgbClr val="D5DDE5"/>
                      </a:solidFill>
                      <a:prstDash val="solid"/>
                    </a:lnR>
                    <a:lnT w="9360">
                      <a:solidFill>
                        <a:srgbClr val="D5DDE5"/>
                      </a:solidFill>
                      <a:prstDash val="solid"/>
                    </a:lnT>
                    <a:lnB w="9360">
                      <a:solidFill>
                        <a:srgbClr val="D5DDE5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직사각형 210"/>
          <p:cNvSpPr/>
          <p:nvPr/>
        </p:nvSpPr>
        <p:spPr>
          <a:xfrm>
            <a:off x="1395351" y="3701520"/>
            <a:ext cx="1941129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4292930" y="3718440"/>
            <a:ext cx="1951990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↗ GitHub</a:t>
            </a:r>
            <a:r>
              <a:rPr lang="ko-KR" sz="1000" b="1" u="sng" strike="noStrike" dirty="0">
                <a:solidFill>
                  <a:srgbClr val="7DD3FC"/>
                </a:solidFill>
                <a:effectLst/>
                <a:uFillTx/>
                <a:latin typeface="맑은 고딕"/>
                <a:ea typeface="맑은 고딕"/>
              </a:rPr>
              <a:t>에서 전체 코드 보기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GAME LOGIC &amp; PROTOCOL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게임</a:t>
            </a:r>
            <a:r>
              <a:rPr lang="en-US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 로직과 네트워크 프로토콜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클라이언트는 입력만 보내고</a:t>
            </a: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위치</a:t>
            </a: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충돌</a:t>
            </a: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피격</a:t>
            </a: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관전 같은 주요 상태는 서버가 결정합니다</a:t>
            </a:r>
            <a:r>
              <a:rPr lang="en-US" sz="1450" b="1" u="none" strike="noStrike">
                <a:solidFill>
                  <a:srgbClr val="0B6F66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67000" y="1828800"/>
            <a:ext cx="4890960" cy="182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클라이언트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: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이동 키와 공격 목표 좌표만 전송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서버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: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플레이어 이동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충돌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 이동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피격 판정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벽 파괴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플레이어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/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총알 제거 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관전 대상 변경을 브로드캐스트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서버 권위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(authority)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방식으로 상태 일관성 확보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567000" y="376740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패킷 구조 — 작은 바이너리 프로토콜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567000" y="4069080"/>
            <a:ext cx="959040" cy="565920"/>
          </a:xfrm>
          <a:prstGeom prst="rect">
            <a:avLst/>
          </a:prstGeom>
          <a:solidFill>
            <a:srgbClr val="0E8F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67000" y="4069080"/>
            <a:ext cx="9590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1563480" y="4069080"/>
            <a:ext cx="959040" cy="565920"/>
          </a:xfrm>
          <a:prstGeom prst="rect">
            <a:avLst/>
          </a:prstGeom>
          <a:solidFill>
            <a:srgbClr val="0B6F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1563480" y="4069080"/>
            <a:ext cx="9590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2560320" y="4069080"/>
            <a:ext cx="2833560" cy="565920"/>
          </a:xfrm>
          <a:prstGeom prst="rect">
            <a:avLst/>
          </a:prstGeom>
          <a:solidFill>
            <a:srgbClr val="2230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2560320" y="4069080"/>
            <a:ext cx="283356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body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567000" y="4663440"/>
            <a:ext cx="4753800" cy="22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A8D"/>
                </a:solidFill>
                <a:effectLst/>
                <a:uFillTx/>
                <a:latin typeface="Consolas"/>
                <a:ea typeface="Consolas"/>
              </a:rPr>
              <a:t>[    2B      |     2B      |                  …                 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5760720" y="1828800"/>
            <a:ext cx="2696400" cy="301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48640" y="38412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0E8F84"/>
                </a:solidFill>
                <a:effectLst/>
                <a:uFillTx/>
                <a:latin typeface="맑은 고딕"/>
                <a:ea typeface="맑은 고딕"/>
              </a:rPr>
              <a:t>LOAD TEST &amp; METRICS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48640" y="658440"/>
            <a:ext cx="8045640" cy="56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70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부하 테스트와 관찰 지표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48640" y="1280160"/>
            <a:ext cx="80456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렌더링 클라이언트와 별도로 헤드리스 봇을 구현해 서버 부하를 재현했습니다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67000" y="1828800"/>
            <a:ext cx="4890960" cy="196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Go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봇으로 다수의 가상 플레이어 접속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이동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/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사격 패킷을 주기적으로 전송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악성 모드</a:t>
            </a: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: 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미완성 대형 패킷으로 수신 버퍼 압박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1001"/>
              </a:spcAft>
              <a:buClr>
                <a:srgbClr val="3A4A5C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120</a:t>
            </a:r>
            <a:r>
              <a:rPr lang="ko-KR" sz="145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초 동안 서버 지표를 자동 측정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567000" y="384048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1E293B"/>
                </a:solidFill>
                <a:effectLst/>
                <a:uFillTx/>
                <a:latin typeface="맑은 고딕"/>
                <a:ea typeface="맑은 고딕"/>
              </a:rPr>
              <a:t>측정 지표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567000" y="4160520"/>
            <a:ext cx="803520" cy="3646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567000" y="4160520"/>
            <a:ext cx="803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평균 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1490400" y="4160520"/>
            <a:ext cx="803520" cy="3646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1490400" y="4160520"/>
            <a:ext cx="803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최고 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2414160" y="4160520"/>
            <a:ext cx="803520" cy="3646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2414160" y="4160520"/>
            <a:ext cx="803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최소 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3337560" y="4160520"/>
            <a:ext cx="1119240" cy="3646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3337560" y="4160520"/>
            <a:ext cx="11192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큐 소비 시간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567000" y="4617720"/>
            <a:ext cx="2906640" cy="36468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567000" y="4617720"/>
            <a:ext cx="2906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메모리 </a:t>
            </a:r>
            <a:r>
              <a:rPr lang="en-US" sz="1100" b="0" u="none" strike="noStrike">
                <a:solidFill>
                  <a:srgbClr val="3A4A5C"/>
                </a:solidFill>
                <a:effectLst/>
                <a:uFillTx/>
                <a:latin typeface="맑은 고딕"/>
                <a:ea typeface="맑은 고딕"/>
              </a:rPr>
              <a:t>(Working Set / Peak)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5760720" y="1828800"/>
            <a:ext cx="2696400" cy="301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 SHOOTING · RECV BUFFER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— 링 버퍼 크기 불일치 디버깅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버퍼와 가변 버퍼를 같은 512 크기로 맞춰 비교하던 중, 링 버퍼에서만 두 문제가 연달아 발생했습니다.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136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8096" y="1938528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8096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9202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버퍼에서만 크래시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2311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 · buffer[512]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560320"/>
            <a:ext cx="34015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04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버퍼를 같은 512로 맞추자 가변 버퍼는 정상, 링 버퍼만 크래시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배열은 buffer[512]로 줄였지만 크기 상한이 4096으로 하드코딩된 채 남아 인덱스 범위 불일치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단일 상수 BUFFER_SIZE로 통일해 배열·경계 계산이 같은 값을 참조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737360"/>
            <a:ext cx="39136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01184" y="1938528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01184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9202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버퍼에서만 맵 깨짐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22311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초기 MapSnapshot &gt; 512B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4015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04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크래시 해결 후, 링 버퍼일 때만 클라이언트에서 맵이 일부만 렌더링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맵 스냅샷 데이터가 512B를 초과 → 고정 크기 링 버퍼 상한에 걸려 일부만 적재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 </a:t>
            </a: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가변 버퍼는 필요한 만큼 grow해 안전 전송. 링은 초기 대형 데이터용 상한·분할 정책이 필요함을 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8046720" cy="603504"/>
          </a:xfrm>
          <a:prstGeom prst="roundRect">
            <a:avLst>
              <a:gd name="adj" fmla="val 9091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42569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6451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512라도 '실패하는 방식'이 달랐습니다. 버퍼 크기는 단일 상수로 통일하고, 맵 스냅샷 같은 초기 대형 데이터는 고정 버퍼의 상한을 설계 단계에서 고려해야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0E8F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640080" y="502920"/>
            <a:ext cx="78627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RESULTS &amp; TAKEAWAYS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621720" y="777240"/>
            <a:ext cx="795420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결과와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 배운 점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640080" y="1371600"/>
            <a:ext cx="786276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핵심 성과는 </a:t>
            </a:r>
            <a:r>
              <a:rPr lang="en-US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IOCP </a:t>
            </a: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서버 구현 자체보다</a:t>
            </a:r>
            <a:r>
              <a:rPr lang="en-US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설계 선택지를 직접 비교하며 병목과 실패 조건을 확인한 것입니다</a:t>
            </a:r>
            <a:r>
              <a:rPr lang="en-US" sz="1350" b="0" u="none" strike="noStrike">
                <a:solidFill>
                  <a:srgbClr val="9FB0C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Shape 4"/>
          <p:cNvSpPr/>
          <p:nvPr/>
        </p:nvSpPr>
        <p:spPr>
          <a:xfrm>
            <a:off x="640080" y="1920240"/>
            <a:ext cx="7862760" cy="54756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822960" y="19202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메모리 배치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Shape 6"/>
          <p:cNvSpPr/>
          <p:nvPr/>
        </p:nvSpPr>
        <p:spPr>
          <a:xfrm>
            <a:off x="2788920" y="2029680"/>
            <a:ext cx="360" cy="329400"/>
          </a:xfrm>
          <a:prstGeom prst="line">
            <a:avLst/>
          </a:prstGeom>
          <a:ln w="12700">
            <a:solidFill>
              <a:srgbClr val="3C4C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7"/>
          <p:cNvSpPr/>
          <p:nvPr/>
        </p:nvSpPr>
        <p:spPr>
          <a:xfrm>
            <a:off x="2971800" y="1920240"/>
            <a:ext cx="5348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평균 성능뿐 아니라 서버의 예측 가능성을 만든다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640080" y="2541960"/>
            <a:ext cx="7862760" cy="54756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822960" y="254196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멀티스레드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Shape 10"/>
          <p:cNvSpPr/>
          <p:nvPr/>
        </p:nvSpPr>
        <p:spPr>
          <a:xfrm>
            <a:off x="2788920" y="2651760"/>
            <a:ext cx="360" cy="329040"/>
          </a:xfrm>
          <a:prstGeom prst="line">
            <a:avLst/>
          </a:prstGeom>
          <a:ln w="12700">
            <a:solidFill>
              <a:srgbClr val="3C4C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11"/>
          <p:cNvSpPr/>
          <p:nvPr/>
        </p:nvSpPr>
        <p:spPr>
          <a:xfrm>
            <a:off x="2971800" y="2541960"/>
            <a:ext cx="5348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많이 쓰는 게 아니라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상태 소유권을 명확히 나누는 것이 중요하다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Shape 12"/>
          <p:cNvSpPr/>
          <p:nvPr/>
        </p:nvSpPr>
        <p:spPr>
          <a:xfrm>
            <a:off x="640080" y="3163680"/>
            <a:ext cx="7862760" cy="54756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822960" y="316368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큐 최적화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Shape 14"/>
          <p:cNvSpPr/>
          <p:nvPr/>
        </p:nvSpPr>
        <p:spPr>
          <a:xfrm>
            <a:off x="2788920" y="3273480"/>
            <a:ext cx="360" cy="329040"/>
          </a:xfrm>
          <a:prstGeom prst="line">
            <a:avLst/>
          </a:prstGeom>
          <a:ln w="12700">
            <a:solidFill>
              <a:srgbClr val="3C4C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15"/>
          <p:cNvSpPr/>
          <p:nvPr/>
        </p:nvSpPr>
        <p:spPr>
          <a:xfrm>
            <a:off x="2971800" y="3163680"/>
            <a:ext cx="5348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전체 틱이 아니라 소비 시간 같은 정확한 지표로 봐야 한다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640080" y="3785760"/>
            <a:ext cx="7862760" cy="54756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 17"/>
          <p:cNvSpPr/>
          <p:nvPr/>
        </p:nvSpPr>
        <p:spPr>
          <a:xfrm>
            <a:off x="822960" y="378576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버퍼 설계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Shape 18"/>
          <p:cNvSpPr/>
          <p:nvPr/>
        </p:nvSpPr>
        <p:spPr>
          <a:xfrm>
            <a:off x="2788920" y="3895200"/>
            <a:ext cx="360" cy="329040"/>
          </a:xfrm>
          <a:prstGeom prst="line">
            <a:avLst/>
          </a:prstGeom>
          <a:ln w="12700">
            <a:solidFill>
              <a:srgbClr val="3C4C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19"/>
          <p:cNvSpPr/>
          <p:nvPr/>
        </p:nvSpPr>
        <p:spPr>
          <a:xfrm>
            <a:off x="2971800" y="3785760"/>
            <a:ext cx="5348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정상 부하보다 악성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역압 상황에서 차이가 드러난다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Shape 20"/>
          <p:cNvSpPr/>
          <p:nvPr/>
        </p:nvSpPr>
        <p:spPr>
          <a:xfrm>
            <a:off x="640080" y="4407480"/>
            <a:ext cx="7862760" cy="54756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822960" y="440748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5EEAD4"/>
                </a:solidFill>
                <a:effectLst/>
                <a:uFillTx/>
                <a:latin typeface="맑은 고딕"/>
                <a:ea typeface="맑은 고딕"/>
              </a:rPr>
              <a:t>AOI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Shape 22"/>
          <p:cNvSpPr/>
          <p:nvPr/>
        </p:nvSpPr>
        <p:spPr>
          <a:xfrm>
            <a:off x="2788920" y="4516920"/>
            <a:ext cx="360" cy="329400"/>
          </a:xfrm>
          <a:prstGeom prst="line">
            <a:avLst/>
          </a:prstGeom>
          <a:ln w="12700">
            <a:solidFill>
              <a:srgbClr val="3C4C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2971800" y="4407480"/>
            <a:ext cx="5348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알고리즘 복잡도를 바꾸는 순간 확장성이 달라진다</a:t>
            </a:r>
            <a:r>
              <a:rPr lang="en-US" sz="1350" b="0" u="none" strike="noStrike">
                <a:solidFill>
                  <a:srgbClr val="E2E8EF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2172</Words>
  <Application>Microsoft Office PowerPoint</Application>
  <PresentationFormat>화면 슬라이드 쇼(16:9)</PresentationFormat>
  <Paragraphs>315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Consolas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IOCP 기반 실시간 대전 게임 서버 포트폴리오</dc:title>
  <dc:subject>PptxGenJS Presentation</dc:subject>
  <dc:creator>신준규</dc:creator>
  <dc:description/>
  <cp:lastModifiedBy>신 준규</cp:lastModifiedBy>
  <cp:revision>14</cp:revision>
  <dcterms:created xsi:type="dcterms:W3CDTF">2026-07-07T08:15:38Z</dcterms:created>
  <dcterms:modified xsi:type="dcterms:W3CDTF">2026-07-09T04:29:24Z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화면 슬라이드 쇼(16:9)</vt:lpwstr>
  </property>
  <property fmtid="{D5CDD505-2E9C-101B-9397-08002B2CF9AE}" pid="4" name="Slides">
    <vt:i4>13</vt:i4>
  </property>
</Properties>
</file>