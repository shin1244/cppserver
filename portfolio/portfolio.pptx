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49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슬라이드를 이동하려면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fld id="{AD24303F-2C81-4083-B51F-CB57333385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표지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이 프로젝트는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동작하는 서버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가 아니라 실시간 게임 서버의 핵심 설계 선택지를 직접 구현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비교하는 데 목적이 있음을 강조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6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FE49D1-F11B-41DE-8225-E27B1CD089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규모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World.h(MAX_PLAYER=200, MAX_BULLETS=4096), main.cpp(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, TICK_MS=33), worlds(2)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에서 확인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7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9589D90-BD0C-4B2A-805F-C6AB6436D6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detach,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로직 루프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33ms.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 소유권을 단일 스레드에 두어 락 경합을 경계로 몰아넣은 것이 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7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96A583-52CA-442E-AB37-95C99535F6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시작 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: WSAStartup → IOCP → listen → worker 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detach + Accepter → worlds(2) Init → Map.Generate(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랜덤 벽 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IsFullyConnected(BFS)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재시도 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GenerateSpawnPoints). TryStartMatch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는 방이 가득 차면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running=true + BroadcastMapSnapshot.</a:t>
            </a:r>
          </a:p>
        </p:txBody>
      </p:sp>
      <p:sp>
        <p:nvSpPr>
          <p:cNvPr id="2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C31B38F-50D9-4E3E-8CBB-54A9BBDAC8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HandleMove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는 입력 키 바이트만 수신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(SetKeys), HandleAttack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CanFire()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쿨타임 검증 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Fire. World.Update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: UpdatePlayers→UpdateBullets→UpdateGrid→Collision→CheckMatchEnd→SendAOIUpdates.</a:t>
            </a:r>
          </a:p>
        </p:txBody>
      </p:sp>
      <p:sp>
        <p:nvSpPr>
          <p:cNvPr id="2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E449E0-17F2-4555-8376-727F755C80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힙 최소화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고정배열이 캐시 친화성과 예측 가능성을 만든다는 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코드 캡처는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ObjectPool.h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World.h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배열 멤버 위주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EE9C28-5580-4B1A-8FC3-0651DED363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=I/O,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락을 경계로만 몰아넣은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World.cpp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흐름 함수명 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04285B-84B5-4A60-BB94-8FCCCDD709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totalConsumeTime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소비 시간만 분리 측정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USE_EVENT_QUEUE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매크로로 토글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D3EACD-CC3A-4864-BDB0-4648CC8B7E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client/bot/main.go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runMaliciousBot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미완성 대형 패킷 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링 버퍼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full/empty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오인 버그도 이 과정에서 수정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4D3A3A4-CCC0-4C19-B4B0-39821A119F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SpatialGrid.*, World.cpp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UpdateGrid/SendAOIUpdates, Map.cpp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HasLineOfSight. USE_NOT_GRID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매크로로 토글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B536F4-1896-488B-A9BC-DA199FE3B2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Protocol.h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PacketHeader{size,id}. World_Net.cpp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핸들러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, World.cpp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 갱신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우측 캡처는 렌더링 클라이언트 실행 화면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E9DF1F-8AEA-4312-8173-3F78E9EFA5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client/bot/main.go, main.cpp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TickBenchmark + GetProcessMemoryInfo.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우측은 최종 결과 콘솔 출력 캡처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019643F-2E7C-432D-A7FF-0A041587FE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가지 배운 점으로 마무리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각 실험 슬라이드의 결론을 한 줄로 압축한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A2689E-3D62-4616-A4C5-2551033766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개요 텍스트의 서식을 편집하려면 클릭하십시오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</a:t>
            </a:r>
            <a:r>
              <a:rPr lang="ko-K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NetworkCore.cp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hin1244/cppServer/blob/master/cppServer/main.cpp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hin1244/cppServer/blob/master/cppServer/main.cpp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EventQueue.h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hin1244/cppServer/blob/master/cppServer/DoubleBuffer.h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RingBuffer.h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hin1244/cppServer/blob/master/cppServer/VecterBuffer.h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in1244/cppServer/blob/master/cppServer/World.cpp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9142920" cy="1087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932760"/>
            <a:ext cx="786276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spc="201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C++  ·  WINDOWS IOCP  ·  GO CLIENT / LOAD BOT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21720" y="1298520"/>
            <a:ext cx="7954200" cy="77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 dirty="0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기반 실시간 대전 게임 서버</a:t>
            </a:r>
            <a:endParaRPr lang="en-US" sz="40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2121480"/>
            <a:ext cx="786276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400</a:t>
            </a:r>
            <a:r>
              <a:rPr lang="ko-KR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명 규모 부하에 대응하는 </a:t>
            </a:r>
            <a:r>
              <a:rPr lang="en-US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top-down </a:t>
            </a:r>
            <a:r>
              <a:rPr lang="ko-KR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슈팅 게임 서버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2578680"/>
            <a:ext cx="7588440" cy="63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네트워크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I/O ·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메모리 배치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· AOI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탐색 구조를 직접 구현하고 부하 상황에서 비교하며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서버 설계의 병목과 안정성을 검증한 프로젝트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40080" y="3429000"/>
            <a:ext cx="95004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0080" y="3429000"/>
            <a:ext cx="95004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IOCP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1792080" y="3429000"/>
            <a:ext cx="156708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792080" y="3429000"/>
            <a:ext cx="156708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30Hz Tick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3561480" y="3429000"/>
            <a:ext cx="132012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561480" y="3429000"/>
            <a:ext cx="132012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400 CCU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5083920" y="3429000"/>
            <a:ext cx="144360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5083920" y="3429000"/>
            <a:ext cx="1443600" cy="41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AOI Grid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640080" y="452628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신준규  </a:t>
            </a:r>
            <a:r>
              <a:rPr lang="en-US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포트폴리오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OVERVIEW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프로젝트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 개요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Text 2"/>
          <p:cNvSpPr/>
          <p:nvPr/>
        </p:nvSpPr>
        <p:spPr>
          <a:xfrm>
            <a:off x="548640" y="1298520"/>
            <a:ext cx="4890960" cy="63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단순히 동작하는 서버가 아니라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실시간 게임 서버의 핵심 설계 선택지를 직접 실험하기 위한 프로젝트입니다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" name="Text 3"/>
          <p:cNvSpPr/>
          <p:nvPr/>
        </p:nvSpPr>
        <p:spPr>
          <a:xfrm>
            <a:off x="567000" y="2084760"/>
            <a:ext cx="4890960" cy="274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C++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으로 직접 구현한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Windows IOCP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렌더링 클라이언트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+ 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헤드리스 부하 봇 구현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방당 최대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200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 동시 접속 부하 구조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사격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후 관전 전환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시야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(LOS) +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반경 기반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Shape 4"/>
          <p:cNvSpPr/>
          <p:nvPr/>
        </p:nvSpPr>
        <p:spPr>
          <a:xfrm>
            <a:off x="5715000" y="137160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5"/>
          <p:cNvSpPr/>
          <p:nvPr/>
        </p:nvSpPr>
        <p:spPr>
          <a:xfrm>
            <a:off x="5715000" y="151776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Text 6"/>
          <p:cNvSpPr/>
          <p:nvPr/>
        </p:nvSpPr>
        <p:spPr>
          <a:xfrm>
            <a:off x="5760720" y="199332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게임 방 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(World)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Shape 7"/>
          <p:cNvSpPr/>
          <p:nvPr/>
        </p:nvSpPr>
        <p:spPr>
          <a:xfrm>
            <a:off x="7369920" y="137160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 8"/>
          <p:cNvSpPr/>
          <p:nvPr/>
        </p:nvSpPr>
        <p:spPr>
          <a:xfrm>
            <a:off x="7369920" y="151776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Text 9"/>
          <p:cNvSpPr/>
          <p:nvPr/>
        </p:nvSpPr>
        <p:spPr>
          <a:xfrm>
            <a:off x="7415640" y="199332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방당 최대 인원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" name="Shape 10"/>
          <p:cNvSpPr/>
          <p:nvPr/>
        </p:nvSpPr>
        <p:spPr>
          <a:xfrm>
            <a:off x="5715000" y="254196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5715000" y="268848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400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5760720" y="316368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총 동시 접속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(CCU)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7369920" y="254196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7369920" y="268848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1024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7415640" y="316368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방당 최대 총알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5715000" y="371232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5715000" y="385884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32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Text 18"/>
          <p:cNvSpPr/>
          <p:nvPr/>
        </p:nvSpPr>
        <p:spPr>
          <a:xfrm>
            <a:off x="5760720" y="433440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워커 스레드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7369920" y="371232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7369920" y="385884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7415640" y="433440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로직 틱 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(~30Hz)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ARCHITECTURE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아키텍처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— 책임을 나눈 두 종류의 스레드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네트워크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I/O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와 게임 상태 갱신의 책임을 분리했습니다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무작정 멀티스레드로 나누지 않았습니다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548640" y="1874520"/>
            <a:ext cx="3382200" cy="173628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Text 4"/>
          <p:cNvSpPr/>
          <p:nvPr/>
        </p:nvSpPr>
        <p:spPr>
          <a:xfrm>
            <a:off x="685800" y="203904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워커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32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31520" y="2441520"/>
            <a:ext cx="30621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WSARecv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수신 완료 처리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패킷 프레이밍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파싱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스레드세이프 큐에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Shape 6"/>
          <p:cNvSpPr/>
          <p:nvPr/>
        </p:nvSpPr>
        <p:spPr>
          <a:xfrm>
            <a:off x="4041720" y="2423160"/>
            <a:ext cx="1059480" cy="620640"/>
          </a:xfrm>
          <a:prstGeom prst="roundRect">
            <a:avLst>
              <a:gd name="adj" fmla="val 14706"/>
            </a:avLst>
          </a:prstGeom>
          <a:solidFill>
            <a:srgbClr val="16202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Text 7"/>
          <p:cNvSpPr/>
          <p:nvPr/>
        </p:nvSpPr>
        <p:spPr>
          <a:xfrm>
            <a:off x="4032360" y="2597040"/>
            <a:ext cx="105948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전달 큐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Shape 9"/>
          <p:cNvSpPr/>
          <p:nvPr/>
        </p:nvSpPr>
        <p:spPr>
          <a:xfrm>
            <a:off x="3931920" y="2733840"/>
            <a:ext cx="109440" cy="360"/>
          </a:xfrm>
          <a:prstGeom prst="line">
            <a:avLst/>
          </a:prstGeom>
          <a:ln w="25400">
            <a:solidFill>
              <a:srgbClr val="6B7A8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4720" tIns="-44640" rIns="54720" bIns="-4464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5102280" y="2733840"/>
            <a:ext cx="127800" cy="360"/>
          </a:xfrm>
          <a:prstGeom prst="line">
            <a:avLst/>
          </a:prstGeom>
          <a:ln w="25400">
            <a:solidFill>
              <a:srgbClr val="6B7A8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720" tIns="-44640" rIns="63720" bIns="-4464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Shape 11"/>
          <p:cNvSpPr/>
          <p:nvPr/>
        </p:nvSpPr>
        <p:spPr>
          <a:xfrm>
            <a:off x="5230440" y="1874520"/>
            <a:ext cx="3363840" cy="173628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5367600" y="203904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1  ·  33ms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5413320" y="2441520"/>
            <a:ext cx="30621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큐 소비 → 월드 업데이트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충돌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판정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대상에게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WSASend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" name="Shape 14"/>
          <p:cNvSpPr/>
          <p:nvPr/>
        </p:nvSpPr>
        <p:spPr>
          <a:xfrm>
            <a:off x="548640" y="3913560"/>
            <a:ext cx="8045640" cy="867600"/>
          </a:xfrm>
          <a:prstGeom prst="roundRect">
            <a:avLst>
              <a:gd name="adj" fmla="val 6316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 15"/>
          <p:cNvSpPr/>
          <p:nvPr/>
        </p:nvSpPr>
        <p:spPr>
          <a:xfrm>
            <a:off x="777240" y="402336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 설계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1" name="Text 16"/>
          <p:cNvSpPr/>
          <p:nvPr/>
        </p:nvSpPr>
        <p:spPr>
          <a:xfrm>
            <a:off x="777240" y="4242960"/>
            <a:ext cx="7588440" cy="42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 상태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플레이어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총알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맵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를 단일 로직 스레드가 소유하므로 상태 자체에는 락이 필요 없습니다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락은 세션 송신 버퍼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큐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push/swap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등 스레드 경계 지점에만 집중됩니다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SERVER STARTUP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서버 실행 플로우 — 시작과 준비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4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시작 시 네트워크와 월드 기반을 준비하고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방이 가득 차면 게임을 시작합니다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40080" y="16642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① 네트워크 · </a:t>
            </a:r>
            <a:r>
              <a:rPr lang="ko-KR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스레드 부팅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6" name="Text 4"/>
          <p:cNvSpPr/>
          <p:nvPr/>
        </p:nvSpPr>
        <p:spPr>
          <a:xfrm>
            <a:off x="4846320" y="1643760"/>
            <a:ext cx="37479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② 월드 · </a:t>
            </a:r>
            <a:r>
              <a:rPr lang="ko-KR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맵 준비 → 게임 시작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7" name="Shape 5"/>
          <p:cNvSpPr/>
          <p:nvPr/>
        </p:nvSpPr>
        <p:spPr>
          <a:xfrm>
            <a:off x="640080" y="196596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804600" y="20620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7"/>
          <p:cNvSpPr/>
          <p:nvPr/>
        </p:nvSpPr>
        <p:spPr>
          <a:xfrm>
            <a:off x="804600" y="20620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0" name="Text 8"/>
          <p:cNvSpPr/>
          <p:nvPr/>
        </p:nvSpPr>
        <p:spPr>
          <a:xfrm>
            <a:off x="1207080" y="196596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Winsock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초기화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2286000" y="246888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640080" y="274320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11"/>
          <p:cNvSpPr/>
          <p:nvPr/>
        </p:nvSpPr>
        <p:spPr>
          <a:xfrm>
            <a:off x="804600" y="283932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804600" y="28393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1207080" y="274320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Shape 14"/>
          <p:cNvSpPr/>
          <p:nvPr/>
        </p:nvSpPr>
        <p:spPr>
          <a:xfrm>
            <a:off x="2286000" y="324612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Shape 15"/>
          <p:cNvSpPr/>
          <p:nvPr/>
        </p:nvSpPr>
        <p:spPr>
          <a:xfrm>
            <a:off x="640080" y="352044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Shape 16"/>
          <p:cNvSpPr/>
          <p:nvPr/>
        </p:nvSpPr>
        <p:spPr>
          <a:xfrm>
            <a:off x="804600" y="361656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804600" y="3616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1207080" y="352044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Listen Socket · bind · listen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" name="Shape 19"/>
          <p:cNvSpPr/>
          <p:nvPr/>
        </p:nvSpPr>
        <p:spPr>
          <a:xfrm>
            <a:off x="2286000" y="402336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Shape 20"/>
          <p:cNvSpPr/>
          <p:nvPr/>
        </p:nvSpPr>
        <p:spPr>
          <a:xfrm>
            <a:off x="640080" y="429768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21"/>
          <p:cNvSpPr/>
          <p:nvPr/>
        </p:nvSpPr>
        <p:spPr>
          <a:xfrm>
            <a:off x="804600" y="439380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804600" y="43938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1207080" y="429768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Worker ×32 + Accept Thread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" name="Shape 24"/>
          <p:cNvSpPr/>
          <p:nvPr/>
        </p:nvSpPr>
        <p:spPr>
          <a:xfrm flipV="1">
            <a:off x="4023360" y="2144880"/>
            <a:ext cx="731160" cy="241056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Shape 25"/>
          <p:cNvSpPr/>
          <p:nvPr/>
        </p:nvSpPr>
        <p:spPr>
          <a:xfrm>
            <a:off x="4846320" y="1943280"/>
            <a:ext cx="37479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26"/>
          <p:cNvSpPr/>
          <p:nvPr/>
        </p:nvSpPr>
        <p:spPr>
          <a:xfrm>
            <a:off x="5010840" y="203940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 27"/>
          <p:cNvSpPr/>
          <p:nvPr/>
        </p:nvSpPr>
        <p:spPr>
          <a:xfrm>
            <a:off x="5010840" y="20394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5413320" y="1943280"/>
            <a:ext cx="30438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World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Shape 29"/>
          <p:cNvSpPr/>
          <p:nvPr/>
        </p:nvSpPr>
        <p:spPr>
          <a:xfrm>
            <a:off x="6720840" y="244620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Shape 30"/>
          <p:cNvSpPr/>
          <p:nvPr/>
        </p:nvSpPr>
        <p:spPr>
          <a:xfrm>
            <a:off x="4846320" y="2610720"/>
            <a:ext cx="3747960" cy="8676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31"/>
          <p:cNvSpPr/>
          <p:nvPr/>
        </p:nvSpPr>
        <p:spPr>
          <a:xfrm>
            <a:off x="5010840" y="27478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 32"/>
          <p:cNvSpPr/>
          <p:nvPr/>
        </p:nvSpPr>
        <p:spPr>
          <a:xfrm>
            <a:off x="5010840" y="2747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5" name="Text 33"/>
          <p:cNvSpPr/>
          <p:nvPr/>
        </p:nvSpPr>
        <p:spPr>
          <a:xfrm>
            <a:off x="5413320" y="2702160"/>
            <a:ext cx="30438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Map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 34"/>
          <p:cNvSpPr/>
          <p:nvPr/>
        </p:nvSpPr>
        <p:spPr>
          <a:xfrm>
            <a:off x="5413320" y="2994840"/>
            <a:ext cx="3043800" cy="41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랜덤 벽 배치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연결성 검사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(BFS)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스폰 좌표 설정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연결될 때까지 재생성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7" name="Shape 35"/>
          <p:cNvSpPr/>
          <p:nvPr/>
        </p:nvSpPr>
        <p:spPr>
          <a:xfrm>
            <a:off x="6720840" y="347940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36"/>
          <p:cNvSpPr/>
          <p:nvPr/>
        </p:nvSpPr>
        <p:spPr>
          <a:xfrm>
            <a:off x="4846320" y="3644280"/>
            <a:ext cx="37479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Shape 37"/>
          <p:cNvSpPr/>
          <p:nvPr/>
        </p:nvSpPr>
        <p:spPr>
          <a:xfrm>
            <a:off x="5010840" y="374004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 38"/>
          <p:cNvSpPr/>
          <p:nvPr/>
        </p:nvSpPr>
        <p:spPr>
          <a:xfrm>
            <a:off x="5010840" y="37400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7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 39"/>
          <p:cNvSpPr/>
          <p:nvPr/>
        </p:nvSpPr>
        <p:spPr>
          <a:xfrm>
            <a:off x="5413320" y="3644280"/>
            <a:ext cx="304380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방당 </a:t>
            </a: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명 접속 대기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2" name="Shape 40"/>
          <p:cNvSpPr/>
          <p:nvPr/>
        </p:nvSpPr>
        <p:spPr>
          <a:xfrm>
            <a:off x="6720840" y="414684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1"/>
          <p:cNvSpPr/>
          <p:nvPr/>
        </p:nvSpPr>
        <p:spPr>
          <a:xfrm>
            <a:off x="4846320" y="4311720"/>
            <a:ext cx="3747960" cy="620640"/>
          </a:xfrm>
          <a:prstGeom prst="roundRect">
            <a:avLst>
              <a:gd name="adj" fmla="val 10294"/>
            </a:avLst>
          </a:prstGeom>
          <a:solidFill>
            <a:srgbClr val="E7F2F1"/>
          </a:solidFill>
          <a:ln w="15875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Shape 42"/>
          <p:cNvSpPr/>
          <p:nvPr/>
        </p:nvSpPr>
        <p:spPr>
          <a:xfrm>
            <a:off x="5010840" y="44488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 43"/>
          <p:cNvSpPr/>
          <p:nvPr/>
        </p:nvSpPr>
        <p:spPr>
          <a:xfrm>
            <a:off x="5010840" y="4448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 44"/>
          <p:cNvSpPr/>
          <p:nvPr/>
        </p:nvSpPr>
        <p:spPr>
          <a:xfrm>
            <a:off x="5413320" y="4403160"/>
            <a:ext cx="30438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 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7" name="Text 45"/>
          <p:cNvSpPr/>
          <p:nvPr/>
        </p:nvSpPr>
        <p:spPr>
          <a:xfrm>
            <a:off x="5413320" y="4695840"/>
            <a:ext cx="3043800" cy="163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→ 맵 스냅샷 전송 후 33ms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로직 틱 시작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LOGIC TICK · 30HZ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33ms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로직 틱 — 매 틱 반복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게임이 시작되면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마다 입력 처리 → 상태 갱신 →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송신을 반복합니다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640080" y="1828800"/>
            <a:ext cx="3382200" cy="501840"/>
          </a:xfrm>
          <a:prstGeom prst="roundRect">
            <a:avLst>
              <a:gd name="adj" fmla="val 12727"/>
            </a:avLst>
          </a:prstGeom>
          <a:solidFill>
            <a:srgbClr val="0E8F84"/>
          </a:solidFill>
          <a:ln w="12700">
            <a:solidFill>
              <a:srgbClr val="0B6F66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859680" y="1828800"/>
            <a:ext cx="302544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33ms Logic Tick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3" name="Shape 5"/>
          <p:cNvSpPr/>
          <p:nvPr/>
        </p:nvSpPr>
        <p:spPr>
          <a:xfrm>
            <a:off x="2331720" y="2331720"/>
            <a:ext cx="360" cy="20088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40080" y="2532960"/>
            <a:ext cx="3382200" cy="913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859680" y="2624400"/>
            <a:ext cx="30254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수신 패킷 소비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859680" y="2917080"/>
            <a:ext cx="30254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Join / Leave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Move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입력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Attack · Observe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요청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2331720" y="3447000"/>
            <a:ext cx="360" cy="20124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640080" y="3648600"/>
            <a:ext cx="3382200" cy="913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859680" y="3740040"/>
            <a:ext cx="30254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패킷 핸들링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0" name="Text 12"/>
          <p:cNvSpPr/>
          <p:nvPr/>
        </p:nvSpPr>
        <p:spPr>
          <a:xfrm>
            <a:off x="859680" y="4032360"/>
            <a:ext cx="30254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클라이언트는 좌표가 아닌 입력 키만 전송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공격 요청은 서버가 쿨타임 검증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1" name="Shape 13"/>
          <p:cNvSpPr/>
          <p:nvPr/>
        </p:nvSpPr>
        <p:spPr>
          <a:xfrm>
            <a:off x="4050720" y="4105440"/>
            <a:ext cx="365760" cy="360"/>
          </a:xfrm>
          <a:prstGeom prst="line">
            <a:avLst/>
          </a:prstGeom>
          <a:ln w="25400">
            <a:solidFill>
              <a:srgbClr val="9AA8B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Shape 14"/>
          <p:cNvSpPr/>
          <p:nvPr/>
        </p:nvSpPr>
        <p:spPr>
          <a:xfrm>
            <a:off x="4434840" y="1828800"/>
            <a:ext cx="4159440" cy="269640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 15"/>
          <p:cNvSpPr/>
          <p:nvPr/>
        </p:nvSpPr>
        <p:spPr>
          <a:xfrm>
            <a:off x="4663440" y="1993320"/>
            <a:ext cx="37022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World.Update — 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매 틱 상태 갱신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4727520" y="2414160"/>
            <a:ext cx="3592440" cy="19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유저 이동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판정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이동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Grid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업데이트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유저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-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충돌 판정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 종료 여부 판정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생존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Grid + LOS +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반경 기준 상황 송신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(AOI)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5" name="Shape 17"/>
          <p:cNvSpPr/>
          <p:nvPr/>
        </p:nvSpPr>
        <p:spPr>
          <a:xfrm>
            <a:off x="548640" y="4681800"/>
            <a:ext cx="8045640" cy="364680"/>
          </a:xfrm>
          <a:prstGeom prst="roundRect">
            <a:avLst>
              <a:gd name="adj" fmla="val 50000"/>
            </a:avLst>
          </a:prstGeom>
          <a:solidFill>
            <a:srgbClr val="16202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548640" y="4681800"/>
            <a:ext cx="80456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매 틱 반복 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위 과정을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마다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(≈30Hz)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수행 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생존자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명이 되면 매치 종료로 정지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DESIGN · MEMORY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예측 가능한 메모리와 캐시 친화성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23640"/>
            <a:ext cx="4890960" cy="684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힙 할당을 최소화하고 고정 크기 배열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풀을 사용해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부하 상황에서도 메모리 사용 패턴이 예측 가능하도록 설계했습니다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567000" y="2084760"/>
            <a:ext cx="4890960" cy="191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세션은 직접 구현한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ObjectPool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에서 미리 확보한 배열로 할당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반납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슬롯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총알도 고정 배열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(slots[100], bullets[1024])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관리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총알은 생성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삭제 대신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active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플래그로 재사용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자주 접근하는 데이터를 연속된 메모리에 가깝게 배치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548640" y="4160520"/>
            <a:ext cx="4890960" cy="684720"/>
          </a:xfrm>
          <a:prstGeom prst="roundRect">
            <a:avLst>
              <a:gd name="adj" fmla="val 8000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777240" y="4196880"/>
            <a:ext cx="443376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관점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777240" y="4433400"/>
            <a:ext cx="4433760" cy="24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중요한 것은 평균 속도만이 아니라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부하 시 메모리 사용량과 접근 패턴이 예측 가능하게 유지되는 것입니다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5623560" y="1371600"/>
            <a:ext cx="2970720" cy="1370520"/>
          </a:xfrm>
          <a:prstGeom prst="roundRect">
            <a:avLst>
              <a:gd name="adj" fmla="val 4000"/>
            </a:avLst>
          </a:prstGeom>
          <a:solidFill>
            <a:srgbClr val="16202E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5806440" y="1481400"/>
            <a:ext cx="265068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 spc="150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코드 근거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5806440" y="1755720"/>
            <a:ext cx="265068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ObjectPool.h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FB0C0"/>
                </a:solidFill>
                <a:effectLst/>
                <a:uFillTx/>
                <a:latin typeface="Consolas"/>
                <a:ea typeface="Consolas"/>
              </a:rPr>
              <a:t>  T items[N] · freeList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NetworkCore.cpp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FB0C0"/>
                </a:solidFill>
                <a:effectLst/>
                <a:uFillTx/>
                <a:latin typeface="Consolas"/>
                <a:ea typeface="Consolas"/>
              </a:rPr>
              <a:t>  ObjectPool&lt;Session,1000&gt;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Bullet.cpp — Fire / Clear / IsActive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4"/>
          <p:cNvPicPr/>
          <p:nvPr/>
        </p:nvPicPr>
        <p:blipFill>
          <a:blip r:embed="rId3"/>
          <a:stretch/>
        </p:blipFill>
        <p:spPr>
          <a:xfrm>
            <a:off x="5560200" y="1270800"/>
            <a:ext cx="3312720" cy="2111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DESIGN · THREADING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멀티스레드보다 명확한 책임 분리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모든 로직을 스레드로 쪼개는 대신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'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누가 무엇을 소유하는가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를 명확히 나누는 데 집중했습니다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1" name="Shape 3">
            <a:hlinkClick r:id="rId3"/>
          </p:cNvPr>
          <p:cNvSpPr/>
          <p:nvPr/>
        </p:nvSpPr>
        <p:spPr>
          <a:xfrm>
            <a:off x="548640" y="1828800"/>
            <a:ext cx="3912480" cy="214776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777240" y="1993320"/>
            <a:ext cx="345528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워커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32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777240" y="2304360"/>
            <a:ext cx="345528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recv → parse → push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804600" y="2615040"/>
            <a:ext cx="340956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GetQueuedCompletionStatus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완료 수신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WSARecv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결과를 프레임 단위로 파싱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완성된 패킷을 큐에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I/O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병렬성 확보가 목적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5" name="Shape 7">
            <a:hlinkClick r:id="rId4"/>
          </p:cNvPr>
          <p:cNvSpPr/>
          <p:nvPr/>
        </p:nvSpPr>
        <p:spPr>
          <a:xfrm>
            <a:off x="4681800" y="1828800"/>
            <a:ext cx="3912480" cy="214776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4910400" y="1993320"/>
            <a:ext cx="345528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4910400" y="2304360"/>
            <a:ext cx="345528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consume → update → send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 10"/>
          <p:cNvSpPr/>
          <p:nvPr/>
        </p:nvSpPr>
        <p:spPr>
          <a:xfrm>
            <a:off x="4937760" y="2615040"/>
            <a:ext cx="340956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틱마다 입력 큐 소비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UpdatePlayers · UpdateBullets · Collision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SendAOIUpdates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상태 브로드캐스트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 상태를 단독 소유 → 상태 락 불필요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9" name="Shape 11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777240" y="41857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락은 어디에</a:t>
            </a:r>
            <a:r>
              <a:rPr lang="en-US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?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1402200" y="4381200"/>
            <a:ext cx="6119280" cy="4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세션 송신 버퍼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큐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push/swap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같은 스레드 경계 지점에만 락을 둡니다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플레이어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총알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맵 상태에는 락이 없습니다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ection Label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1 · INTERFACE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3" name="Title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Consolas"/>
                <a:ea typeface="맑은 고딕"/>
              </a:rPr>
              <a:t>#define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한 줄로 두 구현을 전환하다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4" name="Subtitle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같은 처리 로직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같은 측정 지점 위에서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매크로 하나만 바꿔 두 방식을 동일 조건으로 비교했습니다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5" name="Left Card"/>
          <p:cNvSpPr/>
          <p:nvPr/>
        </p:nvSpPr>
        <p:spPr>
          <a:xfrm>
            <a:off x="548640" y="1828800"/>
            <a:ext cx="2787840" cy="298872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6" name="Left Header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왜 인터페이스를 통일했나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7" name="Left Body"/>
          <p:cNvSpPr/>
          <p:nvPr/>
        </p:nvSpPr>
        <p:spPr>
          <a:xfrm>
            <a:off x="804600" y="2404800"/>
            <a:ext cx="2284920" cy="228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수신 소비 루프를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Consolas"/>
                <a:ea typeface="맑은 고딕"/>
              </a:rPr>
              <a:t>#ifdef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한 곳으로 감싸 분기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Consolas"/>
                <a:ea typeface="맑은 고딕"/>
              </a:rPr>
              <a:t>#define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한 줄만 켜고 끄면 방식 전환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측정 코드는 분기 밖에 두어 조건을 동일하게 유지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런타임 오버헤드 없이 컴파일 타임에 선택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8" name="Code Block">
            <a:hlinkClick r:id="rId2"/>
          </p:cNvPr>
          <p:cNvSpPr/>
          <p:nvPr/>
        </p:nvSpPr>
        <p:spPr>
          <a:xfrm>
            <a:off x="3456360" y="1828800"/>
            <a:ext cx="5138280" cy="2415960"/>
          </a:xfrm>
          <a:prstGeom prst="roundRect">
            <a:avLst>
              <a:gd name="adj" fmla="val 2553"/>
            </a:avLst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  <a:effectLst>
            <a:outerShdw blurRad="8892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59" name="Code Filename">
            <a:hlinkClick r:id="rId2"/>
          </p:cNvPr>
          <p:cNvSpPr/>
          <p:nvPr/>
        </p:nvSpPr>
        <p:spPr>
          <a:xfrm>
            <a:off x="3730680" y="1965960"/>
            <a:ext cx="459000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EEAD4"/>
                </a:solidFill>
                <a:effectLst/>
                <a:uFillTx/>
                <a:latin typeface="Consolas"/>
                <a:ea typeface="맑은 고딕"/>
              </a:rPr>
              <a:t>main.cpp</a:t>
            </a: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   ·  </a:t>
            </a:r>
            <a:r>
              <a:rPr lang="ko-KR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큐 소비 구간           </a:t>
            </a: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Code Text">
            <a:hlinkClick r:id="rId2"/>
          </p:cNvPr>
          <p:cNvSpPr/>
          <p:nvPr/>
        </p:nvSpPr>
        <p:spPr>
          <a:xfrm>
            <a:off x="3730680" y="2249280"/>
            <a:ext cx="4590000" cy="189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#ifdef </a:t>
            </a:r>
            <a:r>
              <a:rPr lang="en-US" sz="1000" b="0" u="none" strike="noStrike">
                <a:solidFill>
                  <a:srgbClr val="9CDCFE"/>
                </a:solidFill>
                <a:effectLst/>
                <a:uFillTx/>
                <a:latin typeface="Consolas"/>
                <a:ea typeface="Consolas"/>
              </a:rPr>
              <a:t>USE_EVENT_QUEUE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while (g_recvQueue.Pop(p)) { ... }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이벤트 큐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g_recvQueue.Swap(buffer);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for (auto&amp; p : buffer) { ... }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더블 스왑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#endif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4EC9B0"/>
                </a:solidFill>
                <a:effectLst/>
                <a:uFillTx/>
                <a:latin typeface="Consolas"/>
                <a:ea typeface="Consolas"/>
              </a:rPr>
              <a:t>auto</a:t>
            </a: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ConsumeEnd = steady_clock::now();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측정은 공통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bench.totalConsumeTime += ConsumeDuration;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1" name="Bottom Banner"/>
          <p:cNvSpPr/>
          <p:nvPr/>
        </p:nvSpPr>
        <p:spPr>
          <a:xfrm>
            <a:off x="3456360" y="4385880"/>
            <a:ext cx="5138280" cy="432000"/>
          </a:xfrm>
          <a:prstGeom prst="roundRect">
            <a:avLst>
              <a:gd name="adj" fmla="val 12000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37160" tIns="45000" rIns="13716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  </a:t>
            </a:r>
            <a:r>
              <a:rPr lang="ko-KR" sz="115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바뀌는 것은 단 한 줄 — 나머지 조건이 같으니 결과 차이는 온전히 큐 방식의 차이입니다</a:t>
            </a:r>
            <a:r>
              <a:rPr lang="en-US" sz="115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2">
            <a:hlinkClick r:id="rId3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1 · QUEUE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이벤트 큐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더블 스왑 버퍼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워커 → 로직 스레드 전달 큐를 두 방식으로 구현해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락 경합 비용을 비교했습니다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이벤트 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onsolas"/>
                <a:ea typeface="Consolas"/>
              </a:rPr>
              <a:t>EventQueue.h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단일 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+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뮤텍스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 · pop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매 건마다 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구현이 단순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9" name="Shape 7">
            <a:hlinkClick r:id="rId4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더블 스왑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DoubleBuffer.h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2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버퍼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개 운용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워커는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시에만 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로직은 틱당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swap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3" name="Shape 13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 14"/>
          <p:cNvSpPr/>
          <p:nvPr/>
        </p:nvSpPr>
        <p:spPr>
          <a:xfrm>
            <a:off x="777240" y="417600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결과 </a:t>
            </a:r>
            <a:r>
              <a:rPr lang="en-US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배운 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5" name="Text 15"/>
          <p:cNvSpPr/>
          <p:nvPr/>
        </p:nvSpPr>
        <p:spPr>
          <a:xfrm>
            <a:off x="777240" y="4381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틱 시간은 게임 로직에 묻혀 차이가 안 보였고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순수 큐 소비 시간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(Consume Time)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을 분리 측정하자 더블 스왑이 약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2~3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배 빠름 — 최적화는 구현보다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무엇을 측정할지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 관건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176" name="표 17"/>
          <p:cNvGraphicFramePr/>
          <p:nvPr/>
        </p:nvGraphicFramePr>
        <p:xfrm>
          <a:off x="6355080" y="1828800"/>
          <a:ext cx="2240280" cy="21456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1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더블 스왑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이벤트 큐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13.98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1299.13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큐 소비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0.0140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7" name="직사각형 176"/>
          <p:cNvSpPr/>
          <p:nvPr/>
        </p:nvSpPr>
        <p:spPr>
          <a:xfrm>
            <a:off x="1365662" y="3701520"/>
            <a:ext cx="1970818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8" name="직사각형 177"/>
          <p:cNvSpPr/>
          <p:nvPr/>
        </p:nvSpPr>
        <p:spPr>
          <a:xfrm>
            <a:off x="4239491" y="3718440"/>
            <a:ext cx="2004709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2 · RECV BUFFER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링 버퍼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가변 버퍼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가변 버퍼는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Clear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하는 과정에서 틱 지연이 발생합니다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2" name="Shape 3">
            <a:hlinkClick r:id="rId3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링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RingBuffer.*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고정 크기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메모리 상한 명확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상한 내에서 세션을 격리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오버플로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(backpressure)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정책 필요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6" name="Shape 7">
            <a:hlinkClick r:id="rId4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B0413A"/>
                </a:solidFill>
                <a:effectLst/>
                <a:uFillTx/>
                <a:latin typeface="맑은 고딕"/>
                <a:ea typeface="맑은 고딕"/>
              </a:rPr>
              <a:t>가변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0413A"/>
                </a:solidFill>
                <a:effectLst/>
                <a:uFillTx/>
                <a:latin typeface="Consolas"/>
                <a:ea typeface="Consolas"/>
              </a:rPr>
              <a:t>VecterBuffer.*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필요한 만큼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grow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악성 패킷에 취약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세션마다 메모리 증가 →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DoS/OOM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위험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0" name="Shape 13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777240" y="42703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결론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2" name="Text 15"/>
          <p:cNvSpPr/>
          <p:nvPr/>
        </p:nvSpPr>
        <p:spPr>
          <a:xfrm>
            <a:off x="777240" y="4489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악성 봇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완성되지 않는 거대 패킷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으로 검증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핵심은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어느 게 빠른가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 아니라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최악의 경우 어떻게 무너지는가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 —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링은 상한이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가변은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cap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 반드시 필요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193" name="표 17"/>
          <p:cNvGraphicFramePr/>
          <p:nvPr/>
        </p:nvGraphicFramePr>
        <p:xfrm>
          <a:off x="6355080" y="1828800"/>
          <a:ext cx="2240280" cy="21456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1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링 버퍼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가변 버퍼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12.14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283.46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큐 소비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0.6805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9 / 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4" name="직사각형 193"/>
          <p:cNvSpPr/>
          <p:nvPr/>
        </p:nvSpPr>
        <p:spPr>
          <a:xfrm>
            <a:off x="1395351" y="3701520"/>
            <a:ext cx="1941129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5" name="직사각형 194"/>
          <p:cNvSpPr/>
          <p:nvPr/>
        </p:nvSpPr>
        <p:spPr>
          <a:xfrm>
            <a:off x="4304805" y="3718440"/>
            <a:ext cx="1940115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">
            <a:hlinkClick r:id="rId3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3 · AOI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순회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공간 그리드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(AOI)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최적화의 핵심은 단순한 속도 개선이 아니라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수 증가에 대한 확장성입니다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순회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onsolas"/>
                <a:ea typeface="Consolas"/>
              </a:rPr>
              <a:t>O(N²)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모든 플레이어 쌍을 검사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총알까지 곱해져 비용 급증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N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 커질수록 급격히 악화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3" name="Shape 7">
            <a:hlinkClick r:id="rId3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blurRad="889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공간 그리드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≈ O(N·k)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주변 셀 후보만 수집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broad-phase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만 교체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분산될수록 이점 확대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7" name="Shape 13"/>
          <p:cNvSpPr/>
          <p:nvPr/>
        </p:nvSpPr>
        <p:spPr>
          <a:xfrm>
            <a:off x="548640" y="4160520"/>
            <a:ext cx="8045640" cy="8787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777240" y="42703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 spc="150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Text 15"/>
          <p:cNvSpPr/>
          <p:nvPr/>
        </p:nvSpPr>
        <p:spPr>
          <a:xfrm>
            <a:off x="777240" y="4489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후보 수집만 교체하고 거리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시야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(LOS)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필터는 공유해 두 방식의 결과를 동일하게 맞췄습니다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그리드의 강점은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빠름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보다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N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에 대한 확장성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제곱 → 선형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210" name="표 17"/>
          <p:cNvGraphicFramePr/>
          <p:nvPr/>
        </p:nvGraphicFramePr>
        <p:xfrm>
          <a:off x="6355080" y="1828800"/>
          <a:ext cx="2240280" cy="21456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1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공간 그리드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전체 순회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25.32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395.90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최소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7.14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21.65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marL="37800" marR="37800" marT="12600" marB="12600" anchor="ctr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직사각형 210"/>
          <p:cNvSpPr/>
          <p:nvPr/>
        </p:nvSpPr>
        <p:spPr>
          <a:xfrm>
            <a:off x="1395351" y="3701520"/>
            <a:ext cx="1941129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2" name="직사각형 211"/>
          <p:cNvSpPr/>
          <p:nvPr/>
        </p:nvSpPr>
        <p:spPr>
          <a:xfrm>
            <a:off x="4292930" y="3718440"/>
            <a:ext cx="1951990" cy="2447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 dirty="0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GAME LOGIC &amp; PROTOCOL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 로직과 네트워크 프로토콜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클라이언트는 입력만 보내고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위치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충돌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피격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관전 같은 주요 상태는 서버가 결정합니다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567000" y="1828800"/>
            <a:ext cx="4890960" cy="1827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클라이언트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키와 공격 목표 좌표만 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판정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제거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관전 대상 변경을 브로드캐스트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 권위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(authority)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방식으로 상태 일관성 확보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Text 4"/>
          <p:cNvSpPr/>
          <p:nvPr/>
        </p:nvSpPr>
        <p:spPr>
          <a:xfrm>
            <a:off x="567000" y="3767400"/>
            <a:ext cx="48452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패킷 구조 — 작은 바이너리 프로토콜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567000" y="4069080"/>
            <a:ext cx="959040" cy="5659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567000" y="4069080"/>
            <a:ext cx="9590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size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1563480" y="4069080"/>
            <a:ext cx="959040" cy="565920"/>
          </a:xfrm>
          <a:prstGeom prst="rect">
            <a:avLst/>
          </a:prstGeom>
          <a:solidFill>
            <a:srgbClr val="0B6F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1563480" y="4069080"/>
            <a:ext cx="9590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Shape 9"/>
          <p:cNvSpPr/>
          <p:nvPr/>
        </p:nvSpPr>
        <p:spPr>
          <a:xfrm>
            <a:off x="2560320" y="4069080"/>
            <a:ext cx="2833560" cy="565920"/>
          </a:xfrm>
          <a:prstGeom prst="rect">
            <a:avLst/>
          </a:prstGeom>
          <a:solidFill>
            <a:srgbClr val="22303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 10"/>
          <p:cNvSpPr/>
          <p:nvPr/>
        </p:nvSpPr>
        <p:spPr>
          <a:xfrm>
            <a:off x="2560320" y="4069080"/>
            <a:ext cx="283356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body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Text 11"/>
          <p:cNvSpPr/>
          <p:nvPr/>
        </p:nvSpPr>
        <p:spPr>
          <a:xfrm>
            <a:off x="567000" y="4663440"/>
            <a:ext cx="475380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Consolas"/>
                <a:ea typeface="Consolas"/>
              </a:rPr>
              <a:t>[    2B      |     2B      |                  …                 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5760720" y="1828800"/>
            <a:ext cx="2696400" cy="301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LOAD TEST &amp; METRICS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부하 테스트와 관찰 지표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8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렌더링 클라이언트와 별도로 헤드리스 봇을 구현해 서버 부하를 재현했습니다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567000" y="1828800"/>
            <a:ext cx="4890960" cy="196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봇으로 다수의 가상 플레이어 접속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사격 패킷을 주기적으로 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악성 모드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미완성 대형 패킷으로 수신 버퍼 압박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120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초 동안 서버 지표를 자동 측정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567000" y="38404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측정 지표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1" name="Shape 5"/>
          <p:cNvSpPr/>
          <p:nvPr/>
        </p:nvSpPr>
        <p:spPr>
          <a:xfrm>
            <a:off x="56700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56700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평균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3" name="Shape 7"/>
          <p:cNvSpPr/>
          <p:nvPr/>
        </p:nvSpPr>
        <p:spPr>
          <a:xfrm>
            <a:off x="149040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8"/>
          <p:cNvSpPr/>
          <p:nvPr/>
        </p:nvSpPr>
        <p:spPr>
          <a:xfrm>
            <a:off x="149040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최고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5" name="Shape 9"/>
          <p:cNvSpPr/>
          <p:nvPr/>
        </p:nvSpPr>
        <p:spPr>
          <a:xfrm>
            <a:off x="241416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241416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최소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7" name="Shape 11"/>
          <p:cNvSpPr/>
          <p:nvPr/>
        </p:nvSpPr>
        <p:spPr>
          <a:xfrm>
            <a:off x="3337560" y="4160520"/>
            <a:ext cx="111924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3337560" y="4160520"/>
            <a:ext cx="11192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큐 소비 시간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9" name="Shape 13"/>
          <p:cNvSpPr/>
          <p:nvPr/>
        </p:nvSpPr>
        <p:spPr>
          <a:xfrm>
            <a:off x="567000" y="4617720"/>
            <a:ext cx="290664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 14"/>
          <p:cNvSpPr/>
          <p:nvPr/>
        </p:nvSpPr>
        <p:spPr>
          <a:xfrm>
            <a:off x="567000" y="4617720"/>
            <a:ext cx="29066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메모리 </a:t>
            </a:r>
            <a:r>
              <a:rPr lang="en-US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(Working Set / Peak)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5760720" y="1828800"/>
            <a:ext cx="2696400" cy="301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0" y="0"/>
            <a:ext cx="9142920" cy="1087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640080" y="502920"/>
            <a:ext cx="786276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RESULTS &amp; TAKEAWAYS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621720" y="777240"/>
            <a:ext cx="795420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결과와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 배운 점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640080" y="1371600"/>
            <a:ext cx="7862760" cy="3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핵심 성과는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서버 구현 자체보다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설계 선택지를 직접 비교하며 병목과 실패 조건을 확인한 것입니다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640080" y="192024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822960" y="192024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메모리 배치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2788920" y="2029680"/>
            <a:ext cx="360" cy="32940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2971800" y="192024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평균 성능뿐 아니라 서버의 예측 가능성을 만든다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640080" y="254196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 9"/>
          <p:cNvSpPr/>
          <p:nvPr/>
        </p:nvSpPr>
        <p:spPr>
          <a:xfrm>
            <a:off x="822960" y="254196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멀티스레드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2788920" y="265176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 11"/>
          <p:cNvSpPr/>
          <p:nvPr/>
        </p:nvSpPr>
        <p:spPr>
          <a:xfrm>
            <a:off x="2971800" y="254196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많이 쓰는 게 아니라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상태 소유권을 명확히 나누는 것이 중요하다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4" name="Shape 12"/>
          <p:cNvSpPr/>
          <p:nvPr/>
        </p:nvSpPr>
        <p:spPr>
          <a:xfrm>
            <a:off x="640080" y="316368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 13"/>
          <p:cNvSpPr/>
          <p:nvPr/>
        </p:nvSpPr>
        <p:spPr>
          <a:xfrm>
            <a:off x="822960" y="316368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큐 최적화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6" name="Shape 14"/>
          <p:cNvSpPr/>
          <p:nvPr/>
        </p:nvSpPr>
        <p:spPr>
          <a:xfrm>
            <a:off x="2788920" y="327348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 15"/>
          <p:cNvSpPr/>
          <p:nvPr/>
        </p:nvSpPr>
        <p:spPr>
          <a:xfrm>
            <a:off x="2971800" y="316368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전체 틱이 아니라 소비 시간 같은 정확한 지표로 봐야 한다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8" name="Shape 16"/>
          <p:cNvSpPr/>
          <p:nvPr/>
        </p:nvSpPr>
        <p:spPr>
          <a:xfrm>
            <a:off x="640080" y="378576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 17"/>
          <p:cNvSpPr/>
          <p:nvPr/>
        </p:nvSpPr>
        <p:spPr>
          <a:xfrm>
            <a:off x="822960" y="378576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버퍼 설계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0" name="Shape 18"/>
          <p:cNvSpPr/>
          <p:nvPr/>
        </p:nvSpPr>
        <p:spPr>
          <a:xfrm>
            <a:off x="2788920" y="389520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 19"/>
          <p:cNvSpPr/>
          <p:nvPr/>
        </p:nvSpPr>
        <p:spPr>
          <a:xfrm>
            <a:off x="2971800" y="378576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정상 부하보다 악성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역압 상황에서 차이가 드러난다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640080" y="440748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 21"/>
          <p:cNvSpPr/>
          <p:nvPr/>
        </p:nvSpPr>
        <p:spPr>
          <a:xfrm>
            <a:off x="822960" y="440748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AOI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4" name="Shape 22"/>
          <p:cNvSpPr/>
          <p:nvPr/>
        </p:nvSpPr>
        <p:spPr>
          <a:xfrm>
            <a:off x="2788920" y="4516920"/>
            <a:ext cx="360" cy="32940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23"/>
          <p:cNvSpPr/>
          <p:nvPr/>
        </p:nvSpPr>
        <p:spPr>
          <a:xfrm>
            <a:off x="2971800" y="440748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알고리즘 복잡도를 바꾸는 순간 확장성이 달라진다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1913</Words>
  <Application>Microsoft Office PowerPoint</Application>
  <PresentationFormat>화면 슬라이드 쇼(16:9)</PresentationFormat>
  <Paragraphs>296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Arial</vt:lpstr>
      <vt:lpstr>Calibri</vt:lpstr>
      <vt:lpstr>Calibri Light</vt:lpstr>
      <vt:lpstr>Consolas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IOCP 기반 실시간 대전 게임 서버 포트폴리오</dc:title>
  <dc:subject>PptxGenJS Presentation</dc:subject>
  <dc:creator>신준규</dc:creator>
  <dc:description/>
  <cp:lastModifiedBy>신 준규</cp:lastModifiedBy>
  <cp:revision>13</cp:revision>
  <dcterms:created xsi:type="dcterms:W3CDTF">2026-07-07T08:15:38Z</dcterms:created>
  <dcterms:modified xsi:type="dcterms:W3CDTF">2026-07-08T02:32:16Z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화면 슬라이드 쇼(16:9)</vt:lpwstr>
  </property>
  <property fmtid="{D5CDD505-2E9C-101B-9397-08002B2CF9AE}" pid="4" name="Slides">
    <vt:i4>13</vt:i4>
  </property>
</Properties>
</file>