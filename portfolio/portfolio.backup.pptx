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1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프로젝트는 '동작하는 서버'가 아니라 실시간 게임 서버의 핵심 설계 선택지를 직접 구현·비교하는 데 목적이 있음을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 수치는 World.h(MAX_PLAYER=200, MAX_BULLETS=4096), main.cpp(워커 32개, TICK_MS=33), worlds(2)에서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main.cpp: 워커 32개 detach, 로직 루프 33ms. 상태 소유권을 단일 스레드에 두어 락 경합을 경계로 몰아넣은 것이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main.cpp 시작 순서: WSAStartup → IOCP → listen → worker 32개 detach + Accepter → worlds(2) Init → Map.Generate(랜덤 벽 → IsFullyConnected(BFS) 재시도 → GenerateSpawnPoints). TryStartMatch는 방이 가득 차면 running=true + BroadcastMapSnapshot.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HandleMove는 입력 키 바이트만 수신(SetKeys), HandleAttack은 CanFire()로 쿨타임 검증 후 Fire. World.Update 순서: UpdatePlayers→UpdateBullets→UpdateGrid→Collision→CheckMatchEnd→SendAOIUpdates.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힙 최소화·풀·고정배열이 캐시 친화성과 예측 가능성을 만든다는 점. 코드 캡처는 ObjectPool.h와 World.h의 배열 멤버 위주.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워커=I/O, 로직=상태. 락을 경계로만 몰아넣은 구조. World.cpp의 Update 흐름 함수명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main.cpp의 totalConsumeTime로 소비 시간만 분리 측정. USE_EVENT_QUEUE 매크로로 토글.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client/bot/main.go의 runMaliciousBot로 미완성 대형 패킷 전송. 링 버퍼 full/empty 오인 버그도 이 과정에서 수정.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SpatialGrid.*, World.cpp의 UpdateGrid/SendAOIUpdates, Map.cpp의 HasLineOfSight. USE_NOT_GRID 매크로로 토글.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Protocol.h의 PacketHeader{size,id}. World_Net.cpp 핸들러, World.cpp 상태 갱신. 우측 캡처는 렌더링 클라이언트 실행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client/bot/main.go, main.cpp의 TickBenchmark + GetProcessMemoryInfo. 우측은 최종 결과 콘솔 출력 캡처.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5가지 배운 점으로 마무리. 각 실험 슬라이드의 결론을 한 줄로 압축한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C++17  ·  WINDOWS IOCP  ·  GO CLIENT / LOAD BOT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IOCP 기반 실시간 대전 게임 서버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214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2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400명 규모 부하에 대응하는 top-down 슈팅 게임 서버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I/O · 메모리 배치 · AOI 탐색 구조를 직접 구현하고 부하 상황에서 비교하며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설계의 병목과 안정성을 검증한 프로젝트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950976" cy="420624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IOCP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92224" y="3429000"/>
            <a:ext cx="1568196" cy="420624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792224" y="3429000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30Hz Tick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1588" y="3429000"/>
            <a:ext cx="1321308" cy="420624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61588" y="3429000"/>
            <a:ext cx="1321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CCU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84064" y="342900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22303F"/>
          </a:solidFill>
          <a:ln w="12700">
            <a:solidFill>
              <a:srgbClr val="0E8F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84064" y="342900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AOI Grid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B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신준규  ·  포트폴리오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단순히 동작하는 서버가 아니라, 실시간 게임 서버의 핵심 설계 선택지를 직접 실험하기 위한 프로젝트입니다.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084832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C++</a:t>
            </a:r>
            <a:r>
              <a:rPr lang="ko-KR" alt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직접 구현한</a:t>
            </a: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Windows IOCP 서버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렌더링 클라이언트 + Go 헤드리스 부하 봇 구현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2개 · 방당 </a:t>
            </a:r>
            <a:r>
              <a:rPr lang="en-US" sz="1450" dirty="0" err="1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</a:t>
            </a: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100명 · 총 200명 동시 접속 부하 구조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· 사격 · 벽 파괴 · 피격 후 관전 전환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시야(LOS) + 반경 기반 AOI 전송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715000" y="1371600"/>
            <a:ext cx="1536192" cy="1042416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15000" y="151790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760720" y="199339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방 (World)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70064" y="1371600"/>
            <a:ext cx="1536192" cy="1042416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70064" y="151790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15784" y="199339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방당 최대 인원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542032"/>
            <a:ext cx="1536192" cy="1042416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15000" y="26883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316382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동시 접속(CCU)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70064" y="2542032"/>
            <a:ext cx="1536192" cy="1042416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70064" y="26883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15784" y="316382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방당 최대 총알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3712464"/>
            <a:ext cx="1536192" cy="1042416"/>
          </a:xfrm>
          <a:prstGeom prst="roundRect">
            <a:avLst>
              <a:gd name="adj" fmla="val 5263"/>
            </a:avLst>
          </a:prstGeom>
          <a:solidFill>
            <a:srgbClr val="E7F2F1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15000" y="38587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760720" y="433425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IOCP 워커 스레드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70064" y="3712464"/>
            <a:ext cx="1536192" cy="1042416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70064" y="385876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33ms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15784" y="433425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 틱 (~30Hz)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</a:t>
            </a: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책임을 나눈 두 종류의 스레드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I/O와 게임 상태 갱신의 책임을 분리했습니다. 무작정 멀티스레드로 나누지 않았습니다.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15875">
            <a:solidFill>
              <a:srgbClr val="0E8F84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IOCP 워커 스레드 × 32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WSARecv 수신 완료 처리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프레이밍 · 파싱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스레드세이프 큐에 push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41648" y="2423160"/>
            <a:ext cx="1060704" cy="621792"/>
          </a:xfrm>
          <a:prstGeom prst="roundRect">
            <a:avLst>
              <a:gd name="adj" fmla="val 14706"/>
            </a:avLst>
          </a:prstGeom>
          <a:solidFill>
            <a:srgbClr val="1620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32504" y="259689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31920" y="2734056"/>
            <a:ext cx="109728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02352" y="2734056"/>
            <a:ext cx="128016" cy="0"/>
          </a:xfrm>
          <a:prstGeom prst="line">
            <a:avLst/>
          </a:prstGeom>
          <a:noFill/>
          <a:ln w="25400">
            <a:solidFill>
              <a:srgbClr val="6B7A8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230368" y="1874520"/>
            <a:ext cx="3364992" cy="173736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15875">
            <a:solidFill>
              <a:srgbClr val="0E8F84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67528" y="2039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 스레드 × 1  ·  33ms 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13248" y="244144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소비 → 월드 업데이트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· 충돌 · 피격 판정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AOI 대상에게 WSASend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설계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242816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상태(플레이어 · 총알 · 맵)를 단일 로직 스레드가 소유하므로 상태 자체에는 락이 필요 없습니다. 락은 세션 송신 버퍼, 큐 push/swap 등 스레드 경계 지점에만 집중됩니다.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 STARTUP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실행 플로우 — 시작과 준비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시 네트워크와 월드 기반을 준비하고, 방이 가득 차면 게임을 시작합니다.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네트워크 · 스레드 부팅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46320" y="164373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월드 · 맵 준비 → 게임 시작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061972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061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07008" y="19659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Winsock 초기화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286000" y="2468880"/>
            <a:ext cx="0" cy="274320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2839212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8392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07008" y="274320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IOCP 생성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0" y="3246120"/>
            <a:ext cx="0" cy="274320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3616452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36164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07008" y="352044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Listen Socket · bind · listen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286000" y="4023360"/>
            <a:ext cx="0" cy="274320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04672" y="4393692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04672" y="43936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07008" y="4297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Worker ×32 + Accept Thread 시작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 flipV="1">
            <a:off x="4023360" y="2144889"/>
            <a:ext cx="731518" cy="2410686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846320" y="1943384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10912" y="2039396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10912" y="20393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13248" y="1943384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World 생성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720840" y="2446304"/>
            <a:ext cx="0" cy="164592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846320" y="2610896"/>
            <a:ext cx="37490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010912" y="2748056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10912" y="2748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13248" y="2702336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생성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13248" y="2994944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벽 배치 · 연결성 검사(BFS)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스폰 좌표 설정 · 연결될 때까지 재생성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20840" y="3479576"/>
            <a:ext cx="0" cy="164592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846320" y="3644168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10912" y="3740180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010912" y="37401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13248" y="364416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방당 200명 접속 대기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720840" y="4147088"/>
            <a:ext cx="0" cy="164592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846320" y="4311680"/>
            <a:ext cx="3749040" cy="621792"/>
          </a:xfrm>
          <a:prstGeom prst="roundRect">
            <a:avLst>
              <a:gd name="adj" fmla="val 10294"/>
            </a:avLst>
          </a:prstGeom>
          <a:solidFill>
            <a:srgbClr val="E7F2F1"/>
          </a:solidFill>
          <a:ln w="15875">
            <a:solidFill>
              <a:srgbClr val="5EEAD4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010912" y="4448840"/>
            <a:ext cx="310896" cy="310896"/>
          </a:xfrm>
          <a:prstGeom prst="ellipse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010912" y="44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13248" y="44031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시작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413248" y="4695728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맵 스냅샷 전송 후 33ms 로직 틱 시작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 TICK · 30HZ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33ms 로직 틱 — 매 틱 반복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게임이 시작되면 33ms마다 입력 처리 → 상태 갱신 → AOI 송신을 반복합니다.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0E8F84"/>
          </a:solidFill>
          <a:ln w="12700">
            <a:solidFill>
              <a:srgbClr val="0B6F6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59536" y="182880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33ms Logic Tick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31720" y="2331720"/>
            <a:ext cx="0" cy="201168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262432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패킷 소비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9536" y="291693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/ Leave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Move 입력 · Attack · Observe 요청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3447288"/>
            <a:ext cx="0" cy="201168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9536" y="373989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핸들링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9536" y="403250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클라이언트는 좌표가 아닌 입력 키만 전송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요청은 서버가 쿨타임 검증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50792" y="4105656"/>
            <a:ext cx="365760" cy="0"/>
          </a:xfrm>
          <a:prstGeom prst="line">
            <a:avLst/>
          </a:prstGeom>
          <a:noFill/>
          <a:ln w="25400">
            <a:solidFill>
              <a:srgbClr val="9AA8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434840" y="1828800"/>
            <a:ext cx="416052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19933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World.Update — 매 틱 상태 갱신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27448" y="2414016"/>
            <a:ext cx="359359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이동 · 벽 충돌 판정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총알 이동 · 벽 충돌 · 벽 파괴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 업데이트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유저-총알 충돌 판정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종료 여부 판정 (생존 1명)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Grid + LOS + 반경 기준 상황 송신 (AOI)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81728"/>
            <a:ext cx="8046720" cy="36576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681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F2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틱 반복  ·  위 과정을 33ms마다(≈30Hz) 수행  ·  생존자 1명이 되면 매치 종료로 정지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가능한 메모리와 캐시 친화성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37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힙 할당을 최소화하고 고정 크기 배열·풀을 사용해, 부하 상황에서도 메모리 사용 패턴이 예측 가능하도록 설계했습니다.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084832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 err="1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세션은</a:t>
            </a: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구현한 </a:t>
            </a:r>
            <a:r>
              <a:rPr lang="en-US" sz="1450" dirty="0" err="1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ObjectPool에서</a:t>
            </a: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미리 확보한 배열로 할당/반납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슬롯·총알도 고정 배열(slots[100], bullets[1024])로 관리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총알은 생성/삭제 대신 active 플래그로 재사용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접근하는 데이터를 연속된 메모리에 가깝게 배치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4892040" cy="685800"/>
          </a:xfrm>
          <a:prstGeom prst="roundRect">
            <a:avLst>
              <a:gd name="adj" fmla="val 8000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41968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443326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것은 평균 속도만이 아니라, 부하 시 메모리 사용량과 접근 패턴이 예측 가능하게 유지되는 것입니다.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1371600"/>
            <a:ext cx="2971800" cy="1371600"/>
          </a:xfrm>
          <a:prstGeom prst="roundRect">
            <a:avLst>
              <a:gd name="adj" fmla="val 4000"/>
            </a:avLst>
          </a:prstGeom>
          <a:solidFill>
            <a:srgbClr val="16202E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806440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근거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7556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ObjectPool.h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items[N] · freeList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NetworkCore.cpp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ObjectPool&lt;Session,1000&gt;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Bullet.cpp — Fire / Clear / IsActive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AEE3986-DA57-E179-41B6-D778C42A7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059" y="1270909"/>
            <a:ext cx="3313849" cy="21121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· THREADING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멀티스레드보다 명확한 책임 분리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로직을 스레드로 쪼개는 대신, '누가 무엇을 소유하는가'를 명확히 나누는 데 집중했습니다.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13632" cy="214884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IOCP 워커 스레드 × 32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 → parse → push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615184"/>
            <a:ext cx="3410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GetQueuedCompletionStatus로 완료 수신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WSARecv 결과를 프레임 단위로 파싱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패킷을 큐에 push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I/O 병렬성 확보가 목적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1728" y="1828800"/>
            <a:ext cx="3913632" cy="214884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10328" y="19933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 스레드 ×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230428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 → update → send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615184"/>
            <a:ext cx="3410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틱마다 입력 큐 소비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UpdatePlayers · UpdateBullets · Collision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SendAOIUpdates로 상태 브로드캐스트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상태를 단독 소유 → 상태 락 불필요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41855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 err="1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락은</a:t>
            </a: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</a:t>
            </a:r>
            <a:r>
              <a:rPr lang="en-US" altLang="ko-KR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02136" y="4381328"/>
            <a:ext cx="6120271" cy="426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송신 버퍼, 큐 push/swap 같은 스레드 경계 지점에만 락을 둡니다. 플레이어·총알·맵 상태에는 락이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1 · QUEUE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큐 vs 더블 스왑 버퍼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워커 → 로직 스레드 전달 큐를 두 방식으로 구현해, 락 경합 비용을 비교했습니다.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EventQueue.h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61518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큐 + 뮤텍스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· pop 매 건마다 락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구현이 단순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85032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 스왑 버퍼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3042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DoubleBuffer.h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12464" y="261518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2개 운용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워커는 push 시에만 락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로직은 틱당 1회 swap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240280" cy="2148840"/>
          </a:xfrm>
          <a:prstGeom prst="roundRect">
            <a:avLst>
              <a:gd name="adj" fmla="val 2553"/>
            </a:avLst>
          </a:prstGeom>
          <a:solidFill>
            <a:srgbClr val="F8FAFB"/>
          </a:solidFill>
          <a:ln w="15875">
            <a:solidFill>
              <a:srgbClr val="A9B7C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1965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벤치마크 그래프 ]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소비 시간 비교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4270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· 배운 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8970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틱 시간은 게임 로직에 묻혀 차이가 안 보였고, 순수 큐 소비 시간(Consume Time)을 분리 측정하자 더블 스왑이 약 2~3배 빠름 — 최적화는 구현보다 '무엇을 측정할지'가 관건.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2 · RECV BUFFER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버퍼 vs 가변 버퍼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부하에서는 비슷하지만, backpressure 상황에서 '실패하는 방식'이 완전히 달라집니다.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버퍼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RingBuffer.*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61518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크기 · 메모리 상한 명확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내에서 세션을 격리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오버플로(backpressure) 정책 필요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FBEDEC"/>
          </a:solidFill>
          <a:ln w="12700">
            <a:solidFill>
              <a:srgbClr val="E7C4C0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85032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4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가변 버퍼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3042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4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VecterBuffer.*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12464" y="261518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 grow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패킷에 취약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세션마다 메모리 증가 → DoS/OOM 위험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240280" cy="2148840"/>
          </a:xfrm>
          <a:prstGeom prst="roundRect">
            <a:avLst>
              <a:gd name="adj" fmla="val 2553"/>
            </a:avLst>
          </a:prstGeom>
          <a:solidFill>
            <a:srgbClr val="F8FAFB"/>
          </a:solidFill>
          <a:ln w="15875">
            <a:solidFill>
              <a:srgbClr val="A9B7C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1965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메모리 그래프 ]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vs 악성 부하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4270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8970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봇(완성되지 않는 거대 패킷)으로 검증. 핵심은 '어느 게 빠른가'가 아니라 '최악의 경우 어떻게 무너지는가' — 링은 상한이, 가변은 cap이 반드시 필요.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EXPERIMENT 3 · AOI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순회 vs 공간 그리드 (AOI)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AOI 최적화의 핵심은 단순한 속도 개선이 아니라, 플레이어 수 증가에 대한 확장성입니다.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순회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 + O(N·M)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61518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플레이어 쌍을 검사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총알까지 곱해져 비용 급증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N이 커질수록 급격히 악화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85032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그리드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3042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6F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O(N·k)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12464" y="261518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셀 후보만 수집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broad-phase만 교체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분산될수록 이점 확대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240280" cy="2148840"/>
          </a:xfrm>
          <a:prstGeom prst="roundRect">
            <a:avLst>
              <a:gd name="adj" fmla="val 2553"/>
            </a:avLst>
          </a:prstGeom>
          <a:solidFill>
            <a:srgbClr val="F8FAFB"/>
          </a:solidFill>
          <a:ln w="15875">
            <a:solidFill>
              <a:srgbClr val="A9B7C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1965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틱 시간 그래프 ]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증가에 따른 비교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7F2F1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4270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8970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수집만 교체하고 거리·시야(LOS) 필터는 공유해 두 방식의 결과를 동일하게 맞췄습니다. 그리드의 강점은 '빠름'보다 N에 대한 확장성(제곱 → 선형).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GAME LOGIC &amp; 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로직과 네트워크 프로토콜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클라이언트는 입력만 보내고, 위치·충돌·피격·관전 같은 주요 상태는 서버가 결정합니다.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클라이언트: 이동 키와 공격 목표 좌표만 전송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서버: 플레이어 이동 · 벽 충돌 · 총알 이동 · 피격 판정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 파괴 · 플레이어/총알 제거 · 관전 대상 변경을 브로드캐스트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권위(authority) 방식으로 상태 일관성 확보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구조 — 작은 바이너리 프로토콜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069080"/>
            <a:ext cx="960120" cy="566928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4069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63624" y="4069080"/>
            <a:ext cx="960120" cy="566928"/>
          </a:xfrm>
          <a:prstGeom prst="rect">
            <a:avLst/>
          </a:prstGeom>
          <a:solidFill>
            <a:srgbClr val="0B6F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63624" y="4069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4069080"/>
            <a:ext cx="2834640" cy="566928"/>
          </a:xfrm>
          <a:prstGeom prst="rect">
            <a:avLst/>
          </a:prstGeom>
          <a:solidFill>
            <a:srgbClr val="2230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0" y="4069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4663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[ 2B | 2B | … 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23560" y="1828800"/>
            <a:ext cx="2971800" cy="3017520"/>
          </a:xfrm>
          <a:prstGeom prst="roundRect">
            <a:avLst>
              <a:gd name="adj" fmla="val 1846"/>
            </a:avLst>
          </a:prstGeom>
          <a:solidFill>
            <a:srgbClr val="F8FAFB"/>
          </a:solidFill>
          <a:ln w="15875">
            <a:solidFill>
              <a:srgbClr val="A9B7C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게임 실행 화면 캡처 ]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· 사격 · 시야(전장의 안개)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 TEST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 테스트와 관찰 지표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렌더링 클라이언트와 별도로 헤드리스 봇을 구현해 서버 부하를 재현했습니다.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봇으로 다수의 가상 플레이어 접속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이동/사격 패킷을 주기적으로 전송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모드: 미완성 대형 패킷으로 수신 버퍼 압박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120초 동안 서버 지표를 자동 측정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16052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416052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90472" y="416052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90472" y="416052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14016" y="416052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14016" y="416052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4160520"/>
            <a:ext cx="1120140" cy="36576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37560" y="4160520"/>
            <a:ext cx="112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소비 시간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617720"/>
            <a:ext cx="2907792" cy="36576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6928" y="46177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(Working Set / Peak)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1828800"/>
            <a:ext cx="2971800" cy="3017520"/>
          </a:xfrm>
          <a:prstGeom prst="roundRect">
            <a:avLst>
              <a:gd name="adj" fmla="val 1846"/>
            </a:avLst>
          </a:prstGeom>
          <a:solidFill>
            <a:srgbClr val="F8FAFB"/>
          </a:solidFill>
          <a:ln w="15875">
            <a:solidFill>
              <a:srgbClr val="A9B7C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760720" y="1828800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벤치마크 콘솔 캡처 ]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8A9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BENCHMARK RESULT (120s)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&amp;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결과와 배운 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성과는 IOCP 서버 구현 자체보다, 설계 선택지를 직접 비교하며 병목과 실패 조건을 확인한 것입니다.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배치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88920" y="2029968"/>
            <a:ext cx="0" cy="329184"/>
          </a:xfrm>
          <a:prstGeom prst="line">
            <a:avLst/>
          </a:prstGeom>
          <a:noFill/>
          <a:ln w="12700">
            <a:solidFill>
              <a:srgbClr val="3C4C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971800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성능뿐 아니라 서버의 예측 가능성을 만든다.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멀티스레드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788920" y="2651760"/>
            <a:ext cx="0" cy="329184"/>
          </a:xfrm>
          <a:prstGeom prst="line">
            <a:avLst/>
          </a:prstGeom>
          <a:noFill/>
          <a:ln w="12700">
            <a:solidFill>
              <a:srgbClr val="3C4C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971800" y="2542032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쓰는 게 아니라, 상태 소유권을 명확히 나누는 것이 중요하다.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163824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31638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최적화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88920" y="3273552"/>
            <a:ext cx="0" cy="329184"/>
          </a:xfrm>
          <a:prstGeom prst="line">
            <a:avLst/>
          </a:prstGeom>
          <a:noFill/>
          <a:ln w="12700">
            <a:solidFill>
              <a:srgbClr val="3C4C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71800" y="3163824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틱이 아니라 소비 시간 같은 정확한 지표로 봐야 한다.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설계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2788920" y="3895344"/>
            <a:ext cx="0" cy="329184"/>
          </a:xfrm>
          <a:prstGeom prst="line">
            <a:avLst/>
          </a:prstGeom>
          <a:noFill/>
          <a:ln w="12700">
            <a:solidFill>
              <a:srgbClr val="3C4C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971800" y="3785616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부하보다 악성·역압 상황에서 차이가 드러난다.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407408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22303F"/>
          </a:solidFill>
          <a:ln w="12700">
            <a:solidFill>
              <a:srgbClr val="3141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2960" y="4407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AOI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2788920" y="4517136"/>
            <a:ext cx="0" cy="329184"/>
          </a:xfrm>
          <a:prstGeom prst="line">
            <a:avLst/>
          </a:prstGeom>
          <a:noFill/>
          <a:ln w="12700">
            <a:solidFill>
              <a:srgbClr val="3C4C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971800" y="440740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 복잡도를 바꾸는 순간 확장성이 달라진다.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1668</Words>
  <Application>Microsoft Office PowerPoint</Application>
  <PresentationFormat>화면 슬라이드 쇼(16:9)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IOCP 기반 실시간 대전 게임 서버 포트폴리오</dc:title>
  <dc:subject>PptxGenJS Presentation</dc:subject>
  <dc:creator>신준규</dc:creator>
  <cp:lastModifiedBy>신 준규</cp:lastModifiedBy>
  <cp:revision>3</cp:revision>
  <dcterms:created xsi:type="dcterms:W3CDTF">2026-07-07T08:15:38Z</dcterms:created>
  <dcterms:modified xsi:type="dcterms:W3CDTF">2026-07-07T09:19:05Z</dcterms:modified>
</cp:coreProperties>
</file>